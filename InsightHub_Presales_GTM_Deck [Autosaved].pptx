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0" r:id="rId11"/>
    <p:sldId id="271"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10"/>
  </p:normalViewPr>
  <p:slideViewPr>
    <p:cSldViewPr snapToGrid="0" snapToObjects="1">
      <p:cViewPr varScale="1">
        <p:scale>
          <a:sx n="106" d="100"/>
          <a:sy n="106" d="100"/>
        </p:scale>
        <p:origin x="23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798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InsightHub turns one-off AI analysis into a durable, governed, proactive analytics system for SMBs who cannot hire a data team. Lead with the outcome, not the tech.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pain: SMBs have the data but not the team. Existing options are either build-it-yourself or one-time. This is the wedge.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category. We are not a cheaper Power BI or a wrapper on ChatGPT — we occupy the missing middle: automated pipeline + durable, governed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spine. Walk the six steps. Emphasize that 1-4 are invisible and automatic — the magic is that the customer never sees the plumbing.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slide for sales. If a prospect says 'why not just use ChatGPT?', this is the answer. Never argue AI quality — argue persistence, governance, proactivity, domain-tuning.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checklist — but keep tying each to an outcome. Most of these already exist in the product today, which is a strong proof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adaptivity is a real, demonstrable differentiator and already built for 5 domains. It lets one product serve many verticals without rebuild.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handle 'how are you different from X'. Our unique columns are domain auto-tuning and zero-setup pipeline for the no-data-team SMB.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repeatable demo. The emotional beats: no setup (surprise), 90 seconds (speed), it remembers (vs ChatGPT), it watches (proactivity). Always end with a forward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Qualify hard on 'no data team' and 'data in exports'. Those two signals predict fast value and low churn. Lead use case is the monthly review — universal.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over-commit on price numbers yet. Sell value and the Growth tier. Freemium/trial is the activation engine for SMB self-serve.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PLG motion: activation-first, vertical wedges to prove domain value, expand on usage, then enterprise-enable via trust. Sales team supports, doesn't gate, early 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these until automatic. The ChatGPT objection is the most common — the answer is always persistence+governance+proactivity, never 'our AI is smarter'.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close with a concrete next step: a demo with THEIR file. The activation metric to watch in pilots is time-to-first-insight.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2377440"/>
          </a:xfrm>
          <a:prstGeom prst="rect">
            <a:avLst/>
          </a:prstGeom>
          <a:solidFill>
            <a:srgbClr val="0F172A"/>
          </a:solidFill>
          <a:ln/>
        </p:spPr>
        <p:txBody>
          <a:bodyPr/>
          <a:lstStyle/>
          <a:p>
            <a:endParaRPr lang="en-US"/>
          </a:p>
        </p:txBody>
      </p:sp>
      <p:sp>
        <p:nvSpPr>
          <p:cNvPr id="3" name="Text 1"/>
          <p:cNvSpPr/>
          <p:nvPr/>
        </p:nvSpPr>
        <p:spPr>
          <a:xfrm>
            <a:off x="640080" y="1554480"/>
            <a:ext cx="8229600" cy="100584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InsightHub</a:t>
            </a:r>
            <a:endParaRPr lang="en-US" sz="5600" dirty="0"/>
          </a:p>
        </p:txBody>
      </p:sp>
      <p:sp>
        <p:nvSpPr>
          <p:cNvPr id="4" name="Text 2"/>
          <p:cNvSpPr/>
          <p:nvPr/>
        </p:nvSpPr>
        <p:spPr>
          <a:xfrm>
            <a:off x="658368" y="2697480"/>
            <a:ext cx="10515600" cy="548640"/>
          </a:xfrm>
          <a:prstGeom prst="rect">
            <a:avLst/>
          </a:prstGeom>
          <a:noFill/>
          <a:ln/>
        </p:spPr>
        <p:txBody>
          <a:bodyPr wrap="square" rtlCol="0" anchor="ctr"/>
          <a:lstStyle/>
          <a:p>
            <a:pPr marL="0" indent="0">
              <a:buNone/>
            </a:pPr>
            <a:r>
              <a:rPr lang="en-US" sz="2200" dirty="0">
                <a:solidFill>
                  <a:srgbClr val="93C5FD"/>
                </a:solidFill>
                <a:latin typeface="Calibri" pitchFamily="34" charset="0"/>
                <a:ea typeface="Calibri" pitchFamily="34" charset="-122"/>
                <a:cs typeface="Calibri" pitchFamily="34" charset="-120"/>
              </a:rPr>
              <a:t>AI-Powered Data &amp; Analytics — for businesses with no data team</a:t>
            </a:r>
            <a:endParaRPr lang="en-US" sz="2200" dirty="0"/>
          </a:p>
        </p:txBody>
      </p:sp>
      <p:sp>
        <p:nvSpPr>
          <p:cNvPr id="5" name="Text 3"/>
          <p:cNvSpPr/>
          <p:nvPr/>
        </p:nvSpPr>
        <p:spPr>
          <a:xfrm>
            <a:off x="658368" y="3429000"/>
            <a:ext cx="10515600" cy="731520"/>
          </a:xfrm>
          <a:prstGeom prst="rect">
            <a:avLst/>
          </a:prstGeom>
          <a:noFill/>
          <a:ln/>
        </p:spPr>
        <p:txBody>
          <a:bodyPr wrap="square" rtlCol="0" anchor="ctr"/>
          <a:lstStyle/>
          <a:p>
            <a:pPr marL="0" indent="0">
              <a:buNone/>
            </a:pPr>
            <a:r>
              <a:rPr lang="en-US" sz="1500" i="1" dirty="0">
                <a:solidFill>
                  <a:srgbClr val="CBD5E1"/>
                </a:solidFill>
                <a:latin typeface="Calibri" pitchFamily="34" charset="0"/>
                <a:ea typeface="Calibri" pitchFamily="34" charset="-122"/>
                <a:cs typeface="Calibri" pitchFamily="34" charset="-120"/>
              </a:rPr>
              <a:t>From upload to governed, AI-driven insight in under a minute — and it stays current, watches itself, and speaks your industry.</a:t>
            </a:r>
            <a:endParaRPr lang="en-US" sz="1500" dirty="0"/>
          </a:p>
        </p:txBody>
      </p:sp>
      <p:sp>
        <p:nvSpPr>
          <p:cNvPr id="6" name="Shape 4"/>
          <p:cNvSpPr/>
          <p:nvPr/>
        </p:nvSpPr>
        <p:spPr>
          <a:xfrm>
            <a:off x="658368" y="4480560"/>
            <a:ext cx="3429000" cy="1051560"/>
          </a:xfrm>
          <a:prstGeom prst="roundRect">
            <a:avLst>
              <a:gd name="adj" fmla="val 7826"/>
            </a:avLst>
          </a:prstGeom>
          <a:solidFill>
            <a:srgbClr val="0F172A"/>
          </a:solidFill>
          <a:ln w="12700">
            <a:solidFill>
              <a:srgbClr val="2563EB"/>
            </a:solidFill>
            <a:prstDash val="solid"/>
          </a:ln>
        </p:spPr>
        <p:txBody>
          <a:bodyPr/>
          <a:lstStyle/>
          <a:p>
            <a:endParaRPr lang="en-US"/>
          </a:p>
        </p:txBody>
      </p:sp>
      <p:sp>
        <p:nvSpPr>
          <p:cNvPr id="7" name="Text 5"/>
          <p:cNvSpPr/>
          <p:nvPr/>
        </p:nvSpPr>
        <p:spPr>
          <a:xfrm>
            <a:off x="795528" y="4590288"/>
            <a:ext cx="3108960" cy="502920"/>
          </a:xfrm>
          <a:prstGeom prst="rect">
            <a:avLst/>
          </a:prstGeom>
          <a:noFill/>
          <a:ln/>
        </p:spPr>
        <p:txBody>
          <a:bodyPr wrap="square"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1-click</a:t>
            </a:r>
            <a:endParaRPr lang="en-US" sz="2600" dirty="0"/>
          </a:p>
        </p:txBody>
      </p:sp>
      <p:sp>
        <p:nvSpPr>
          <p:cNvPr id="8" name="Text 6"/>
          <p:cNvSpPr/>
          <p:nvPr/>
        </p:nvSpPr>
        <p:spPr>
          <a:xfrm>
            <a:off x="795528" y="5074920"/>
            <a:ext cx="3200400" cy="41148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ingest → transform → model → insight</a:t>
            </a:r>
            <a:endParaRPr lang="en-US" sz="1150" dirty="0"/>
          </a:p>
        </p:txBody>
      </p:sp>
      <p:sp>
        <p:nvSpPr>
          <p:cNvPr id="9" name="Shape 7"/>
          <p:cNvSpPr/>
          <p:nvPr/>
        </p:nvSpPr>
        <p:spPr>
          <a:xfrm>
            <a:off x="4361688" y="4480560"/>
            <a:ext cx="3429000" cy="1051560"/>
          </a:xfrm>
          <a:prstGeom prst="roundRect">
            <a:avLst>
              <a:gd name="adj" fmla="val 7826"/>
            </a:avLst>
          </a:prstGeom>
          <a:solidFill>
            <a:srgbClr val="0F172A"/>
          </a:solidFill>
          <a:ln w="12700">
            <a:solidFill>
              <a:srgbClr val="0D9488"/>
            </a:solidFill>
            <a:prstDash val="solid"/>
          </a:ln>
        </p:spPr>
        <p:txBody>
          <a:bodyPr/>
          <a:lstStyle/>
          <a:p>
            <a:endParaRPr lang="en-US"/>
          </a:p>
        </p:txBody>
      </p:sp>
      <p:sp>
        <p:nvSpPr>
          <p:cNvPr id="10" name="Text 8"/>
          <p:cNvSpPr/>
          <p:nvPr/>
        </p:nvSpPr>
        <p:spPr>
          <a:xfrm>
            <a:off x="4498848" y="4590288"/>
            <a:ext cx="3108960" cy="502920"/>
          </a:xfrm>
          <a:prstGeom prst="rect">
            <a:avLst/>
          </a:prstGeom>
          <a:noFill/>
          <a:ln/>
        </p:spPr>
        <p:txBody>
          <a:bodyPr wrap="square" rtlCol="0" anchor="ctr"/>
          <a:lstStyle/>
          <a:p>
            <a:pPr marL="0" indent="0">
              <a:buNone/>
            </a:pPr>
            <a:r>
              <a:rPr lang="en-US" sz="2600" b="1" dirty="0">
                <a:solidFill>
                  <a:srgbClr val="0D9488"/>
                </a:solidFill>
                <a:latin typeface="Calibri" pitchFamily="34" charset="0"/>
                <a:ea typeface="Calibri" pitchFamily="34" charset="-122"/>
                <a:cs typeface="Calibri" pitchFamily="34" charset="-120"/>
              </a:rPr>
              <a:t>&lt;60s</a:t>
            </a:r>
            <a:endParaRPr lang="en-US" sz="2600" dirty="0"/>
          </a:p>
        </p:txBody>
      </p:sp>
      <p:sp>
        <p:nvSpPr>
          <p:cNvPr id="11" name="Text 9"/>
          <p:cNvSpPr/>
          <p:nvPr/>
        </p:nvSpPr>
        <p:spPr>
          <a:xfrm>
            <a:off x="4498848" y="5074920"/>
            <a:ext cx="3200400" cy="41148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time to first insight</a:t>
            </a:r>
            <a:endParaRPr lang="en-US" sz="1150" dirty="0"/>
          </a:p>
        </p:txBody>
      </p:sp>
      <p:sp>
        <p:nvSpPr>
          <p:cNvPr id="12" name="Shape 10"/>
          <p:cNvSpPr/>
          <p:nvPr/>
        </p:nvSpPr>
        <p:spPr>
          <a:xfrm>
            <a:off x="8065008" y="4480560"/>
            <a:ext cx="3429000" cy="1051560"/>
          </a:xfrm>
          <a:prstGeom prst="roundRect">
            <a:avLst>
              <a:gd name="adj" fmla="val 7826"/>
            </a:avLst>
          </a:prstGeom>
          <a:solidFill>
            <a:srgbClr val="0F172A"/>
          </a:solidFill>
          <a:ln w="12700">
            <a:solidFill>
              <a:srgbClr val="D97706"/>
            </a:solidFill>
            <a:prstDash val="solid"/>
          </a:ln>
        </p:spPr>
        <p:txBody>
          <a:bodyPr/>
          <a:lstStyle/>
          <a:p>
            <a:endParaRPr lang="en-US"/>
          </a:p>
        </p:txBody>
      </p:sp>
      <p:sp>
        <p:nvSpPr>
          <p:cNvPr id="13" name="Text 11"/>
          <p:cNvSpPr/>
          <p:nvPr/>
        </p:nvSpPr>
        <p:spPr>
          <a:xfrm>
            <a:off x="8202168" y="4590288"/>
            <a:ext cx="3108960" cy="502920"/>
          </a:xfrm>
          <a:prstGeom prst="rect">
            <a:avLst/>
          </a:prstGeom>
          <a:noFill/>
          <a:ln/>
        </p:spPr>
        <p:txBody>
          <a:bodyPr wrap="square" rtlCol="0" anchor="ctr"/>
          <a:lstStyle/>
          <a:p>
            <a:pPr marL="0" indent="0">
              <a:buNone/>
            </a:pPr>
            <a:r>
              <a:rPr lang="en-US" sz="2600" b="1" dirty="0">
                <a:solidFill>
                  <a:srgbClr val="D97706"/>
                </a:solidFill>
                <a:latin typeface="Calibri" pitchFamily="34" charset="0"/>
                <a:ea typeface="Calibri" pitchFamily="34" charset="-122"/>
                <a:cs typeface="Calibri" pitchFamily="34" charset="-120"/>
              </a:rPr>
              <a:t>24/7</a:t>
            </a:r>
            <a:endParaRPr lang="en-US" sz="2600" dirty="0"/>
          </a:p>
        </p:txBody>
      </p:sp>
      <p:sp>
        <p:nvSpPr>
          <p:cNvPr id="14" name="Text 12"/>
          <p:cNvSpPr/>
          <p:nvPr/>
        </p:nvSpPr>
        <p:spPr>
          <a:xfrm>
            <a:off x="8202168" y="5074920"/>
            <a:ext cx="3200400" cy="411480"/>
          </a:xfrm>
          <a:prstGeom prst="rect">
            <a:avLst/>
          </a:prstGeom>
          <a:noFill/>
          <a:ln/>
        </p:spPr>
        <p:txBody>
          <a:bodyPr wrap="square" rtlCol="0" anchor="ctr"/>
          <a:lstStyle/>
          <a:p>
            <a:pPr marL="0" indent="0">
              <a:buNone/>
            </a:pPr>
            <a:r>
              <a:rPr lang="en-US" sz="1150" dirty="0">
                <a:solidFill>
                  <a:srgbClr val="CBD5E1"/>
                </a:solidFill>
                <a:latin typeface="Calibri" pitchFamily="34" charset="0"/>
                <a:ea typeface="Calibri" pitchFamily="34" charset="-122"/>
                <a:cs typeface="Calibri" pitchFamily="34" charset="-120"/>
              </a:rPr>
              <a:t>proactive alerts, no one asking</a:t>
            </a:r>
            <a:endParaRPr lang="en-US" sz="1150" dirty="0"/>
          </a:p>
        </p:txBody>
      </p:sp>
      <p:sp>
        <p:nvSpPr>
          <p:cNvPr id="15" name="Text 13"/>
          <p:cNvSpPr/>
          <p:nvPr/>
        </p:nvSpPr>
        <p:spPr>
          <a:xfrm>
            <a:off x="658368" y="6035040"/>
            <a:ext cx="10058400" cy="36576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Presales &amp; Go-To-Market Playbook  ·  v1.0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DC262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SMBs are data-rich but insight-poor</a:t>
            </a:r>
            <a:endParaRPr lang="en-US" sz="3200" dirty="0"/>
          </a:p>
        </p:txBody>
      </p:sp>
      <p:sp>
        <p:nvSpPr>
          <p:cNvPr id="4" name="Shape 2"/>
          <p:cNvSpPr/>
          <p:nvPr/>
        </p:nvSpPr>
        <p:spPr>
          <a:xfrm>
            <a:off x="548640" y="1737360"/>
            <a:ext cx="3520440" cy="3931920"/>
          </a:xfrm>
          <a:prstGeom prst="roundRect">
            <a:avLst>
              <a:gd name="adj" fmla="val 2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5" name="Shape 3"/>
          <p:cNvSpPr/>
          <p:nvPr/>
        </p:nvSpPr>
        <p:spPr>
          <a:xfrm>
            <a:off x="804672" y="2011680"/>
            <a:ext cx="640080" cy="640080"/>
          </a:xfrm>
          <a:prstGeom prst="ellipse">
            <a:avLst/>
          </a:prstGeom>
          <a:solidFill>
            <a:srgbClr val="DC2626"/>
          </a:solidFill>
          <a:ln/>
        </p:spPr>
        <p:txBody>
          <a:bodyPr/>
          <a:lstStyle/>
          <a:p>
            <a:endParaRPr lang="en-US"/>
          </a:p>
        </p:txBody>
      </p:sp>
      <p:sp>
        <p:nvSpPr>
          <p:cNvPr id="6" name="Text 4"/>
          <p:cNvSpPr/>
          <p:nvPr/>
        </p:nvSpPr>
        <p:spPr>
          <a:xfrm>
            <a:off x="804672" y="201168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7" name="Text 5"/>
          <p:cNvSpPr/>
          <p:nvPr/>
        </p:nvSpPr>
        <p:spPr>
          <a:xfrm>
            <a:off x="1600200" y="2084832"/>
            <a:ext cx="2377440" cy="548640"/>
          </a:xfrm>
          <a:prstGeom prst="rect">
            <a:avLst/>
          </a:prstGeom>
          <a:noFill/>
          <a:ln/>
        </p:spPr>
        <p:txBody>
          <a:bodyPr wrap="square"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No data team</a:t>
            </a:r>
            <a:endParaRPr lang="en-US" sz="1800" dirty="0"/>
          </a:p>
        </p:txBody>
      </p:sp>
      <p:sp>
        <p:nvSpPr>
          <p:cNvPr id="8" name="Text 6"/>
          <p:cNvSpPr/>
          <p:nvPr/>
        </p:nvSpPr>
        <p:spPr>
          <a:xfrm>
            <a:off x="822960" y="2880360"/>
            <a:ext cx="2971800" cy="2651760"/>
          </a:xfrm>
          <a:prstGeom prst="rect">
            <a:avLst/>
          </a:prstGeom>
          <a:noFill/>
          <a:ln/>
        </p:spPr>
        <p:txBody>
          <a:bodyPr wrap="square"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The tools that give real analytics (Power BI, Tableau) need a developer to connect sources, build ETL, model data, and design dashboards. SMBs don't have that person.</a:t>
            </a:r>
            <a:endParaRPr lang="en-US" sz="1350" dirty="0"/>
          </a:p>
        </p:txBody>
      </p:sp>
      <p:sp>
        <p:nvSpPr>
          <p:cNvPr id="9" name="Shape 7"/>
          <p:cNvSpPr/>
          <p:nvPr/>
        </p:nvSpPr>
        <p:spPr>
          <a:xfrm>
            <a:off x="4343400" y="1737360"/>
            <a:ext cx="3520440" cy="3931920"/>
          </a:xfrm>
          <a:prstGeom prst="roundRect">
            <a:avLst>
              <a:gd name="adj" fmla="val 2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0" name="Shape 8"/>
          <p:cNvSpPr/>
          <p:nvPr/>
        </p:nvSpPr>
        <p:spPr>
          <a:xfrm>
            <a:off x="4599432" y="2011680"/>
            <a:ext cx="640080" cy="640080"/>
          </a:xfrm>
          <a:prstGeom prst="ellipse">
            <a:avLst/>
          </a:prstGeom>
          <a:solidFill>
            <a:srgbClr val="D97706"/>
          </a:solidFill>
          <a:ln/>
        </p:spPr>
        <p:txBody>
          <a:bodyPr/>
          <a:lstStyle/>
          <a:p>
            <a:endParaRPr lang="en-US"/>
          </a:p>
        </p:txBody>
      </p:sp>
      <p:sp>
        <p:nvSpPr>
          <p:cNvPr id="11" name="Text 9"/>
          <p:cNvSpPr/>
          <p:nvPr/>
        </p:nvSpPr>
        <p:spPr>
          <a:xfrm>
            <a:off x="4599432" y="201168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2" name="Text 10"/>
          <p:cNvSpPr/>
          <p:nvPr/>
        </p:nvSpPr>
        <p:spPr>
          <a:xfrm>
            <a:off x="5394960" y="2084832"/>
            <a:ext cx="2377440" cy="548640"/>
          </a:xfrm>
          <a:prstGeom prst="rect">
            <a:avLst/>
          </a:prstGeom>
          <a:noFill/>
          <a:ln/>
        </p:spPr>
        <p:txBody>
          <a:bodyPr wrap="square"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Spreadsheet sprawl</a:t>
            </a:r>
            <a:endParaRPr lang="en-US" sz="1800" dirty="0"/>
          </a:p>
        </p:txBody>
      </p:sp>
      <p:sp>
        <p:nvSpPr>
          <p:cNvPr id="13" name="Text 11"/>
          <p:cNvSpPr/>
          <p:nvPr/>
        </p:nvSpPr>
        <p:spPr>
          <a:xfrm>
            <a:off x="4617720" y="2880360"/>
            <a:ext cx="2971800" cy="2651760"/>
          </a:xfrm>
          <a:prstGeom prst="rect">
            <a:avLst/>
          </a:prstGeom>
          <a:noFill/>
          <a:ln/>
        </p:spPr>
        <p:txBody>
          <a:bodyPr wrap="square"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Numbers live in a dozen exports — POS, e-commerce, accounting. Nobody has a single, current view, and reconciling them by hand eats hours every week.</a:t>
            </a:r>
            <a:endParaRPr lang="en-US" sz="1350" dirty="0"/>
          </a:p>
        </p:txBody>
      </p:sp>
      <p:sp>
        <p:nvSpPr>
          <p:cNvPr id="14" name="Shape 12"/>
          <p:cNvSpPr/>
          <p:nvPr/>
        </p:nvSpPr>
        <p:spPr>
          <a:xfrm>
            <a:off x="8138160" y="1737360"/>
            <a:ext cx="3520440" cy="3931920"/>
          </a:xfrm>
          <a:prstGeom prst="roundRect">
            <a:avLst>
              <a:gd name="adj" fmla="val 2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5" name="Shape 13"/>
          <p:cNvSpPr/>
          <p:nvPr/>
        </p:nvSpPr>
        <p:spPr>
          <a:xfrm>
            <a:off x="8394192" y="2011680"/>
            <a:ext cx="640080" cy="640080"/>
          </a:xfrm>
          <a:prstGeom prst="ellipse">
            <a:avLst/>
          </a:prstGeom>
          <a:solidFill>
            <a:srgbClr val="7C3AED"/>
          </a:solidFill>
          <a:ln/>
        </p:spPr>
        <p:txBody>
          <a:bodyPr/>
          <a:lstStyle/>
          <a:p>
            <a:endParaRPr lang="en-US"/>
          </a:p>
        </p:txBody>
      </p:sp>
      <p:sp>
        <p:nvSpPr>
          <p:cNvPr id="16" name="Text 14"/>
          <p:cNvSpPr/>
          <p:nvPr/>
        </p:nvSpPr>
        <p:spPr>
          <a:xfrm>
            <a:off x="8394192" y="2011680"/>
            <a:ext cx="640080" cy="64008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7" name="Text 15"/>
          <p:cNvSpPr/>
          <p:nvPr/>
        </p:nvSpPr>
        <p:spPr>
          <a:xfrm>
            <a:off x="9189720" y="2084832"/>
            <a:ext cx="2377440" cy="548640"/>
          </a:xfrm>
          <a:prstGeom prst="rect">
            <a:avLst/>
          </a:prstGeom>
          <a:noFill/>
          <a:ln/>
        </p:spPr>
        <p:txBody>
          <a:bodyPr wrap="square"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One-time AI</a:t>
            </a:r>
            <a:endParaRPr lang="en-US" sz="1800" dirty="0"/>
          </a:p>
        </p:txBody>
      </p:sp>
      <p:sp>
        <p:nvSpPr>
          <p:cNvPr id="18" name="Text 16"/>
          <p:cNvSpPr/>
          <p:nvPr/>
        </p:nvSpPr>
        <p:spPr>
          <a:xfrm>
            <a:off x="8412480" y="2880360"/>
            <a:ext cx="2971800" cy="2651760"/>
          </a:xfrm>
          <a:prstGeom prst="rect">
            <a:avLst/>
          </a:prstGeom>
          <a:noFill/>
          <a:ln/>
        </p:spPr>
        <p:txBody>
          <a:bodyPr wrap="square" rtlCol="0" anchor="t"/>
          <a:lstStyle/>
          <a:p>
            <a:pPr marL="0" indent="0">
              <a:lnSpc>
                <a:spcPct val="105000"/>
              </a:lnSpc>
              <a:buNone/>
            </a:pPr>
            <a:r>
              <a:rPr lang="en-US" sz="1350" dirty="0">
                <a:solidFill>
                  <a:srgbClr val="475569"/>
                </a:solidFill>
                <a:latin typeface="Calibri" pitchFamily="34" charset="0"/>
                <a:ea typeface="Calibri" pitchFamily="34" charset="-122"/>
                <a:cs typeface="Calibri" pitchFamily="34" charset="-120"/>
              </a:rPr>
              <a:t>Pasting a file into ChatGPT gives a brilliant answer once — then it's gone. Next week you re-export, re-upload, re-explain your business from scratch. Nothing persists.</a:t>
            </a:r>
            <a:endParaRPr lang="en-US" sz="1350" dirty="0"/>
          </a:p>
        </p:txBody>
      </p:sp>
      <p:sp>
        <p:nvSpPr>
          <p:cNvPr id="19" name="Text 17"/>
          <p:cNvSpPr/>
          <p:nvPr/>
        </p:nvSpPr>
        <p:spPr>
          <a:xfrm>
            <a:off x="548640" y="5897880"/>
            <a:ext cx="10972800" cy="457200"/>
          </a:xfrm>
          <a:prstGeom prst="rect">
            <a:avLst/>
          </a:prstGeom>
          <a:noFill/>
          <a:ln/>
        </p:spPr>
        <p:txBody>
          <a:bodyPr wrap="square" rtlCol="0" anchor="ctr"/>
          <a:lstStyle/>
          <a:p>
            <a:pPr marL="0" indent="0">
              <a:buNone/>
            </a:pPr>
            <a:r>
              <a:rPr lang="en-US" sz="1400" b="1" i="1" dirty="0">
                <a:solidFill>
                  <a:srgbClr val="1E293B"/>
                </a:solidFill>
                <a:latin typeface="Calibri" pitchFamily="34" charset="0"/>
                <a:ea typeface="Calibri" pitchFamily="34" charset="-122"/>
                <a:cs typeface="Calibri" pitchFamily="34" charset="-120"/>
              </a:rPr>
              <a:t>The result: decisions made on gut feel, stale numbers, or a report that's already a week old.</a:t>
            </a:r>
            <a:endParaRPr lang="en-US" sz="1400" dirty="0"/>
          </a:p>
        </p:txBody>
      </p:sp>
      <p:sp>
        <p:nvSpPr>
          <p:cNvPr id="20" name="Text 18"/>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2</a:t>
            </a:r>
            <a:endParaRPr lang="en-US" sz="900" dirty="0"/>
          </a:p>
        </p:txBody>
      </p:sp>
      <p:sp>
        <p:nvSpPr>
          <p:cNvPr id="21" name="Text 19"/>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2563EB"/>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The market leaves a gap in the middle</a:t>
            </a:r>
            <a:endParaRPr lang="en-US" sz="3200" dirty="0"/>
          </a:p>
        </p:txBody>
      </p:sp>
      <p:sp>
        <p:nvSpPr>
          <p:cNvPr id="4" name="Shape 2"/>
          <p:cNvSpPr/>
          <p:nvPr/>
        </p:nvSpPr>
        <p:spPr>
          <a:xfrm>
            <a:off x="548640" y="1737360"/>
            <a:ext cx="3520440" cy="4114800"/>
          </a:xfrm>
          <a:prstGeom prst="roundRect">
            <a:avLst>
              <a:gd name="adj" fmla="val 2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5" name="Text 3"/>
          <p:cNvSpPr/>
          <p:nvPr/>
        </p:nvSpPr>
        <p:spPr>
          <a:xfrm>
            <a:off x="804672" y="1965960"/>
            <a:ext cx="3017520" cy="457200"/>
          </a:xfrm>
          <a:prstGeom prst="rect">
            <a:avLst/>
          </a:prstGeom>
          <a:noFill/>
          <a:ln/>
        </p:spPr>
        <p:txBody>
          <a:bodyPr wrap="square" rtlCol="0" anchor="ctr"/>
          <a:lstStyle/>
          <a:p>
            <a:pPr marL="0" indent="0">
              <a:buNone/>
            </a:pPr>
            <a:r>
              <a:rPr lang="en-US" sz="1900" b="1" dirty="0">
                <a:solidFill>
                  <a:srgbClr val="1E293B"/>
                </a:solidFill>
                <a:latin typeface="Calibri" pitchFamily="34" charset="0"/>
                <a:ea typeface="Calibri" pitchFamily="34" charset="-122"/>
                <a:cs typeface="Calibri" pitchFamily="34" charset="-120"/>
              </a:rPr>
              <a:t>Power BI / Tableau</a:t>
            </a:r>
            <a:endParaRPr lang="en-US" sz="1900" dirty="0"/>
          </a:p>
        </p:txBody>
      </p:sp>
      <p:sp>
        <p:nvSpPr>
          <p:cNvPr id="6" name="Text 4"/>
          <p:cNvSpPr/>
          <p:nvPr/>
        </p:nvSpPr>
        <p:spPr>
          <a:xfrm>
            <a:off x="804672" y="2487168"/>
            <a:ext cx="3017520" cy="320040"/>
          </a:xfrm>
          <a:prstGeom prst="rect">
            <a:avLst/>
          </a:prstGeom>
          <a:noFill/>
          <a:ln/>
        </p:spPr>
        <p:txBody>
          <a:bodyPr wrap="square" rtlCol="0" anchor="ctr"/>
          <a:lstStyle/>
          <a:p>
            <a:pPr marL="0" indent="0">
              <a:buNone/>
            </a:pPr>
            <a:r>
              <a:rPr lang="en-US" sz="1100" b="1" kern="0" spc="100" dirty="0">
                <a:solidFill>
                  <a:srgbClr val="475569"/>
                </a:solidFill>
                <a:latin typeface="Calibri" pitchFamily="34" charset="0"/>
                <a:ea typeface="Calibri" pitchFamily="34" charset="-122"/>
                <a:cs typeface="Calibri" pitchFamily="34" charset="-120"/>
              </a:rPr>
              <a:t>BUILD-IT-YOURSELF</a:t>
            </a:r>
            <a:endParaRPr lang="en-US" sz="1100" dirty="0"/>
          </a:p>
        </p:txBody>
      </p:sp>
      <p:sp>
        <p:nvSpPr>
          <p:cNvPr id="7" name="Text 5"/>
          <p:cNvSpPr/>
          <p:nvPr/>
        </p:nvSpPr>
        <p:spPr>
          <a:xfrm>
            <a:off x="804672" y="2971800"/>
            <a:ext cx="3017520" cy="2651760"/>
          </a:xfrm>
          <a:prstGeom prst="rect">
            <a:avLst/>
          </a:prstGeom>
          <a:noFill/>
          <a:ln/>
        </p:spPr>
        <p:txBody>
          <a:bodyPr wrap="square" rtlCol="0" anchor="t"/>
          <a:lstStyle/>
          <a:p>
            <a:pPr marL="0" indent="0">
              <a:lnSpc>
                <a:spcPct val="106000"/>
              </a:lnSpc>
              <a:buNone/>
            </a:pPr>
            <a:r>
              <a:rPr lang="en-US" sz="1350" dirty="0">
                <a:solidFill>
                  <a:srgbClr val="475569"/>
                </a:solidFill>
                <a:latin typeface="Calibri" pitchFamily="34" charset="0"/>
                <a:ea typeface="Calibri" pitchFamily="34" charset="-122"/>
                <a:cs typeface="Calibri" pitchFamily="34" charset="-120"/>
              </a:rPr>
              <a:t>Powerful, but a project. You supply the developer, the ETL, the model, the dashboards. Days to weeks before value.</a:t>
            </a:r>
            <a:endParaRPr lang="en-US" sz="1350" dirty="0"/>
          </a:p>
        </p:txBody>
      </p:sp>
      <p:sp>
        <p:nvSpPr>
          <p:cNvPr id="8" name="Shape 6"/>
          <p:cNvSpPr/>
          <p:nvPr/>
        </p:nvSpPr>
        <p:spPr>
          <a:xfrm>
            <a:off x="4343400" y="1737360"/>
            <a:ext cx="3520440" cy="4114800"/>
          </a:xfrm>
          <a:prstGeom prst="roundRect">
            <a:avLst>
              <a:gd name="adj" fmla="val 2338"/>
            </a:avLst>
          </a:prstGeom>
          <a:solidFill>
            <a:srgbClr val="F5F3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9" name="Text 7"/>
          <p:cNvSpPr/>
          <p:nvPr/>
        </p:nvSpPr>
        <p:spPr>
          <a:xfrm>
            <a:off x="4599432" y="1965960"/>
            <a:ext cx="3017520" cy="457200"/>
          </a:xfrm>
          <a:prstGeom prst="rect">
            <a:avLst/>
          </a:prstGeom>
          <a:noFill/>
          <a:ln/>
        </p:spPr>
        <p:txBody>
          <a:bodyPr wrap="square" rtlCol="0" anchor="ctr"/>
          <a:lstStyle/>
          <a:p>
            <a:pPr marL="0" indent="0">
              <a:buNone/>
            </a:pPr>
            <a:r>
              <a:rPr lang="en-US" sz="1900" b="1" dirty="0">
                <a:solidFill>
                  <a:srgbClr val="1E293B"/>
                </a:solidFill>
                <a:latin typeface="Calibri" pitchFamily="34" charset="0"/>
                <a:ea typeface="Calibri" pitchFamily="34" charset="-122"/>
                <a:cs typeface="Calibri" pitchFamily="34" charset="-120"/>
              </a:rPr>
              <a:t>ChatGPT / Claude</a:t>
            </a:r>
            <a:endParaRPr lang="en-US" sz="1900" dirty="0"/>
          </a:p>
        </p:txBody>
      </p:sp>
      <p:sp>
        <p:nvSpPr>
          <p:cNvPr id="10" name="Text 8"/>
          <p:cNvSpPr/>
          <p:nvPr/>
        </p:nvSpPr>
        <p:spPr>
          <a:xfrm>
            <a:off x="4599432" y="2487168"/>
            <a:ext cx="3017520" cy="320040"/>
          </a:xfrm>
          <a:prstGeom prst="rect">
            <a:avLst/>
          </a:prstGeom>
          <a:noFill/>
          <a:ln/>
        </p:spPr>
        <p:txBody>
          <a:bodyPr wrap="square" rtlCol="0" anchor="ctr"/>
          <a:lstStyle/>
          <a:p>
            <a:pPr marL="0" indent="0">
              <a:buNone/>
            </a:pPr>
            <a:r>
              <a:rPr lang="en-US" sz="1100" b="1" kern="0" spc="100" dirty="0">
                <a:solidFill>
                  <a:srgbClr val="7C3AED"/>
                </a:solidFill>
                <a:latin typeface="Calibri" pitchFamily="34" charset="0"/>
                <a:ea typeface="Calibri" pitchFamily="34" charset="-122"/>
                <a:cs typeface="Calibri" pitchFamily="34" charset="-120"/>
              </a:rPr>
              <a:t>ONE-TIME &amp; UNGOVERNED</a:t>
            </a:r>
            <a:endParaRPr lang="en-US" sz="1100" dirty="0"/>
          </a:p>
        </p:txBody>
      </p:sp>
      <p:sp>
        <p:nvSpPr>
          <p:cNvPr id="11" name="Text 9"/>
          <p:cNvSpPr/>
          <p:nvPr/>
        </p:nvSpPr>
        <p:spPr>
          <a:xfrm>
            <a:off x="4599432" y="2971800"/>
            <a:ext cx="3017520" cy="2651760"/>
          </a:xfrm>
          <a:prstGeom prst="rect">
            <a:avLst/>
          </a:prstGeom>
          <a:noFill/>
          <a:ln/>
        </p:spPr>
        <p:txBody>
          <a:bodyPr wrap="square" rtlCol="0" anchor="t"/>
          <a:lstStyle/>
          <a:p>
            <a:pPr marL="0" indent="0">
              <a:lnSpc>
                <a:spcPct val="106000"/>
              </a:lnSpc>
              <a:buNone/>
            </a:pPr>
            <a:r>
              <a:rPr lang="en-US" sz="1350" dirty="0">
                <a:solidFill>
                  <a:srgbClr val="475569"/>
                </a:solidFill>
                <a:latin typeface="Calibri" pitchFamily="34" charset="0"/>
                <a:ea typeface="Calibri" pitchFamily="34" charset="-122"/>
                <a:cs typeface="Calibri" pitchFamily="34" charset="-120"/>
              </a:rPr>
              <a:t>Fantastic first answer — but ephemeral, single-user, no persistence, no governance, no proactivity. Resets every session.</a:t>
            </a:r>
            <a:endParaRPr lang="en-US" sz="1350" dirty="0"/>
          </a:p>
        </p:txBody>
      </p:sp>
      <p:sp>
        <p:nvSpPr>
          <p:cNvPr id="12" name="Shape 10"/>
          <p:cNvSpPr/>
          <p:nvPr/>
        </p:nvSpPr>
        <p:spPr>
          <a:xfrm>
            <a:off x="8138160" y="1737360"/>
            <a:ext cx="3520440" cy="4114800"/>
          </a:xfrm>
          <a:prstGeom prst="roundRect">
            <a:avLst>
              <a:gd name="adj" fmla="val 2338"/>
            </a:avLst>
          </a:prstGeom>
          <a:solidFill>
            <a:srgbClr val="F0FDFA"/>
          </a:solidFill>
          <a:ln w="12700">
            <a:solidFill>
              <a:srgbClr val="0D9488"/>
            </a:solidFill>
            <a:prstDash val="solid"/>
          </a:ln>
          <a:effectLst>
            <a:outerShdw blurRad="63500" dist="25400" dir="5400000" algn="bl" rotWithShape="0">
              <a:srgbClr val="0F172A">
                <a:alpha val="16000"/>
              </a:srgbClr>
            </a:outerShdw>
          </a:effectLst>
        </p:spPr>
        <p:txBody>
          <a:bodyPr/>
          <a:lstStyle/>
          <a:p>
            <a:endParaRPr lang="en-US"/>
          </a:p>
        </p:txBody>
      </p:sp>
      <p:sp>
        <p:nvSpPr>
          <p:cNvPr id="13" name="Shape 11"/>
          <p:cNvSpPr/>
          <p:nvPr/>
        </p:nvSpPr>
        <p:spPr>
          <a:xfrm>
            <a:off x="8138160" y="1737360"/>
            <a:ext cx="3520440" cy="4114800"/>
          </a:xfrm>
          <a:prstGeom prst="roundRect">
            <a:avLst>
              <a:gd name="adj" fmla="val 2338"/>
            </a:avLst>
          </a:prstGeom>
          <a:ln w="31750">
            <a:solidFill>
              <a:srgbClr val="0D9488"/>
            </a:solidFill>
            <a:prstDash val="solid"/>
          </a:ln>
        </p:spPr>
        <p:txBody>
          <a:bodyPr/>
          <a:lstStyle/>
          <a:p>
            <a:endParaRPr lang="en-US"/>
          </a:p>
        </p:txBody>
      </p:sp>
      <p:sp>
        <p:nvSpPr>
          <p:cNvPr id="14" name="Text 12"/>
          <p:cNvSpPr/>
          <p:nvPr/>
        </p:nvSpPr>
        <p:spPr>
          <a:xfrm>
            <a:off x="8394192" y="1965960"/>
            <a:ext cx="3017520" cy="457200"/>
          </a:xfrm>
          <a:prstGeom prst="rect">
            <a:avLst/>
          </a:prstGeom>
          <a:noFill/>
          <a:ln/>
        </p:spPr>
        <p:txBody>
          <a:bodyPr wrap="square" rtlCol="0" anchor="ctr"/>
          <a:lstStyle/>
          <a:p>
            <a:pPr marL="0" indent="0">
              <a:buNone/>
            </a:pPr>
            <a:r>
              <a:rPr lang="en-US" sz="1900" b="1" dirty="0">
                <a:solidFill>
                  <a:srgbClr val="0D9488"/>
                </a:solidFill>
                <a:latin typeface="Calibri" pitchFamily="34" charset="0"/>
                <a:ea typeface="Calibri" pitchFamily="34" charset="-122"/>
                <a:cs typeface="Calibri" pitchFamily="34" charset="-120"/>
              </a:rPr>
              <a:t>InsightHub</a:t>
            </a:r>
            <a:endParaRPr lang="en-US" sz="1900" dirty="0"/>
          </a:p>
        </p:txBody>
      </p:sp>
      <p:sp>
        <p:nvSpPr>
          <p:cNvPr id="15" name="Text 13"/>
          <p:cNvSpPr/>
          <p:nvPr/>
        </p:nvSpPr>
        <p:spPr>
          <a:xfrm>
            <a:off x="8394192" y="2487168"/>
            <a:ext cx="3017520" cy="320040"/>
          </a:xfrm>
          <a:prstGeom prst="rect">
            <a:avLst/>
          </a:prstGeom>
          <a:noFill/>
          <a:ln/>
        </p:spPr>
        <p:txBody>
          <a:bodyPr wrap="square" rtlCol="0" anchor="ctr"/>
          <a:lstStyle/>
          <a:p>
            <a:pPr marL="0" indent="0">
              <a:buNone/>
            </a:pPr>
            <a:r>
              <a:rPr lang="en-US" sz="1100" b="1" kern="0" spc="100" dirty="0">
                <a:solidFill>
                  <a:srgbClr val="0D9488"/>
                </a:solidFill>
                <a:latin typeface="Calibri" pitchFamily="34" charset="0"/>
                <a:ea typeface="Calibri" pitchFamily="34" charset="-122"/>
                <a:cs typeface="Calibri" pitchFamily="34" charset="-120"/>
              </a:rPr>
              <a:t>THE MISSING MIDDLE</a:t>
            </a:r>
            <a:endParaRPr lang="en-US" sz="1100" dirty="0"/>
          </a:p>
        </p:txBody>
      </p:sp>
      <p:sp>
        <p:nvSpPr>
          <p:cNvPr id="16" name="Text 14"/>
          <p:cNvSpPr/>
          <p:nvPr/>
        </p:nvSpPr>
        <p:spPr>
          <a:xfrm>
            <a:off x="8394192" y="2971800"/>
            <a:ext cx="3017520" cy="2651760"/>
          </a:xfrm>
          <a:prstGeom prst="rect">
            <a:avLst/>
          </a:prstGeom>
          <a:noFill/>
          <a:ln/>
        </p:spPr>
        <p:txBody>
          <a:bodyPr wrap="square" rtlCol="0" anchor="t"/>
          <a:lstStyle/>
          <a:p>
            <a:pPr marL="0" indent="0">
              <a:lnSpc>
                <a:spcPct val="106000"/>
              </a:lnSpc>
              <a:buNone/>
            </a:pPr>
            <a:r>
              <a:rPr lang="en-US" sz="1350" dirty="0">
                <a:solidFill>
                  <a:srgbClr val="475569"/>
                </a:solidFill>
                <a:latin typeface="Calibri" pitchFamily="34" charset="0"/>
                <a:ea typeface="Calibri" pitchFamily="34" charset="-122"/>
                <a:cs typeface="Calibri" pitchFamily="34" charset="-120"/>
              </a:rPr>
              <a:t>The analytics engineering pipeline as a one-click product — plus persistence, governance, and proactive alerts. Value in minutes, durable forever.</a:t>
            </a:r>
            <a:endParaRPr lang="en-US" sz="1350" dirty="0"/>
          </a:p>
        </p:txBody>
      </p:sp>
      <p:sp>
        <p:nvSpPr>
          <p:cNvPr id="17" name="Text 15"/>
          <p:cNvSpPr/>
          <p:nvPr/>
        </p:nvSpPr>
        <p:spPr>
          <a:xfrm>
            <a:off x="548640" y="5989320"/>
            <a:ext cx="10972800" cy="457200"/>
          </a:xfrm>
          <a:prstGeom prst="rect">
            <a:avLst/>
          </a:prstGeom>
          <a:noFill/>
          <a:ln/>
        </p:spPr>
        <p:txBody>
          <a:bodyPr wrap="square" rtlCol="0" anchor="ctr"/>
          <a:lstStyle/>
          <a:p>
            <a:pPr marL="0" indent="0">
              <a:buNone/>
            </a:pPr>
            <a:r>
              <a:rPr lang="en-US" sz="1350" i="1" dirty="0">
                <a:solidFill>
                  <a:srgbClr val="1E293B"/>
                </a:solidFill>
                <a:latin typeface="Calibri" pitchFamily="34" charset="0"/>
                <a:ea typeface="Calibri" pitchFamily="34" charset="-122"/>
                <a:cs typeface="Calibri" pitchFamily="34" charset="-120"/>
              </a:rPr>
              <a:t>InsightHub does everything Power BI's developer does — automatically — and everything ChatGPT can't: remember, govern, and warn.</a:t>
            </a:r>
            <a:endParaRPr lang="en-US" sz="1350" dirty="0"/>
          </a:p>
        </p:txBody>
      </p:sp>
      <p:sp>
        <p:nvSpPr>
          <p:cNvPr id="18" name="Text 16"/>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3</a:t>
            </a:r>
            <a:endParaRPr lang="en-US" sz="900" dirty="0"/>
          </a:p>
        </p:txBody>
      </p:sp>
      <p:sp>
        <p:nvSpPr>
          <p:cNvPr id="19" name="Text 17"/>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93C5FD"/>
                </a:solidFill>
                <a:latin typeface="Calibri" pitchFamily="34" charset="0"/>
                <a:ea typeface="Calibri" pitchFamily="34" charset="-122"/>
                <a:cs typeface="Calibri" pitchFamily="34" charset="-120"/>
              </a:rPr>
              <a:t>WHAT INSIGHTHUB IS</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One platform. The whole pipeline. One click.</a:t>
            </a:r>
            <a:endParaRPr lang="en-US" sz="3000" dirty="0"/>
          </a:p>
        </p:txBody>
      </p:sp>
      <p:sp>
        <p:nvSpPr>
          <p:cNvPr id="4" name="Shape 2"/>
          <p:cNvSpPr/>
          <p:nvPr/>
        </p:nvSpPr>
        <p:spPr>
          <a:xfrm>
            <a:off x="502920" y="2286000"/>
            <a:ext cx="1691640" cy="1737360"/>
          </a:xfrm>
          <a:prstGeom prst="roundRect">
            <a:avLst>
              <a:gd name="adj" fmla="val 4865"/>
            </a:avLst>
          </a:prstGeom>
          <a:solidFill>
            <a:srgbClr val="0F172A"/>
          </a:solidFill>
          <a:ln w="12700">
            <a:solidFill>
              <a:srgbClr val="2563EB"/>
            </a:solidFill>
            <a:prstDash val="solid"/>
          </a:ln>
        </p:spPr>
        <p:txBody>
          <a:bodyPr/>
          <a:lstStyle/>
          <a:p>
            <a:endParaRPr lang="en-US"/>
          </a:p>
        </p:txBody>
      </p:sp>
      <p:sp>
        <p:nvSpPr>
          <p:cNvPr id="5" name="Shape 3"/>
          <p:cNvSpPr/>
          <p:nvPr/>
        </p:nvSpPr>
        <p:spPr>
          <a:xfrm>
            <a:off x="1069848" y="2487168"/>
            <a:ext cx="548640" cy="548640"/>
          </a:xfrm>
          <a:prstGeom prst="ellipse">
            <a:avLst/>
          </a:prstGeom>
          <a:solidFill>
            <a:srgbClr val="2563EB"/>
          </a:solidFill>
          <a:ln/>
        </p:spPr>
        <p:txBody>
          <a:bodyPr/>
          <a:lstStyle/>
          <a:p>
            <a:endParaRPr lang="en-US"/>
          </a:p>
        </p:txBody>
      </p:sp>
      <p:sp>
        <p:nvSpPr>
          <p:cNvPr id="6" name="Text 4"/>
          <p:cNvSpPr/>
          <p:nvPr/>
        </p:nvSpPr>
        <p:spPr>
          <a:xfrm>
            <a:off x="1069848"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p:nvPr/>
        </p:nvSpPr>
        <p:spPr>
          <a:xfrm>
            <a:off x="548640"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Ingest</a:t>
            </a:r>
            <a:endParaRPr lang="en-US" sz="1500" dirty="0"/>
          </a:p>
        </p:txBody>
      </p:sp>
      <p:sp>
        <p:nvSpPr>
          <p:cNvPr id="8" name="Text 6"/>
          <p:cNvSpPr/>
          <p:nvPr/>
        </p:nvSpPr>
        <p:spPr>
          <a:xfrm>
            <a:off x="548640"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Upload or connect</a:t>
            </a:r>
            <a:endParaRPr lang="en-US" sz="1050" dirty="0"/>
          </a:p>
        </p:txBody>
      </p:sp>
      <p:sp>
        <p:nvSpPr>
          <p:cNvPr id="9" name="Text 7"/>
          <p:cNvSpPr/>
          <p:nvPr/>
        </p:nvSpPr>
        <p:spPr>
          <a:xfrm>
            <a:off x="2130552" y="2788920"/>
            <a:ext cx="365760" cy="457200"/>
          </a:xfrm>
          <a:prstGeom prst="rect">
            <a:avLst/>
          </a:prstGeom>
          <a:noFill/>
          <a:ln/>
        </p:spPr>
        <p:txBody>
          <a:bodyPr wrap="square" rtlCol="0" anchor="ctr"/>
          <a:lstStyle/>
          <a:p>
            <a:pPr marL="0" indent="0" algn="ctr">
              <a:buNone/>
            </a:pPr>
            <a:r>
              <a:rPr lang="en-US" sz="2200" b="1" dirty="0">
                <a:solidFill>
                  <a:srgbClr val="475569"/>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441448" y="2286000"/>
            <a:ext cx="1691640" cy="1737360"/>
          </a:xfrm>
          <a:prstGeom prst="roundRect">
            <a:avLst>
              <a:gd name="adj" fmla="val 4865"/>
            </a:avLst>
          </a:prstGeom>
          <a:solidFill>
            <a:srgbClr val="0F172A"/>
          </a:solidFill>
          <a:ln w="12700">
            <a:solidFill>
              <a:srgbClr val="0D9488"/>
            </a:solidFill>
            <a:prstDash val="solid"/>
          </a:ln>
        </p:spPr>
        <p:txBody>
          <a:bodyPr/>
          <a:lstStyle/>
          <a:p>
            <a:endParaRPr lang="en-US"/>
          </a:p>
        </p:txBody>
      </p:sp>
      <p:sp>
        <p:nvSpPr>
          <p:cNvPr id="11" name="Shape 9"/>
          <p:cNvSpPr/>
          <p:nvPr/>
        </p:nvSpPr>
        <p:spPr>
          <a:xfrm>
            <a:off x="3008376" y="2487168"/>
            <a:ext cx="548640" cy="548640"/>
          </a:xfrm>
          <a:prstGeom prst="ellipse">
            <a:avLst/>
          </a:prstGeom>
          <a:solidFill>
            <a:srgbClr val="0D9488"/>
          </a:solidFill>
          <a:ln/>
        </p:spPr>
        <p:txBody>
          <a:bodyPr/>
          <a:lstStyle/>
          <a:p>
            <a:endParaRPr lang="en-US"/>
          </a:p>
        </p:txBody>
      </p:sp>
      <p:sp>
        <p:nvSpPr>
          <p:cNvPr id="12" name="Text 10"/>
          <p:cNvSpPr/>
          <p:nvPr/>
        </p:nvSpPr>
        <p:spPr>
          <a:xfrm>
            <a:off x="3008376"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3" name="Text 11"/>
          <p:cNvSpPr/>
          <p:nvPr/>
        </p:nvSpPr>
        <p:spPr>
          <a:xfrm>
            <a:off x="2487168"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Detect</a:t>
            </a:r>
            <a:endParaRPr lang="en-US" sz="1500" dirty="0"/>
          </a:p>
        </p:txBody>
      </p:sp>
      <p:sp>
        <p:nvSpPr>
          <p:cNvPr id="14" name="Text 12"/>
          <p:cNvSpPr/>
          <p:nvPr/>
        </p:nvSpPr>
        <p:spPr>
          <a:xfrm>
            <a:off x="2487168"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Auto domain match</a:t>
            </a:r>
            <a:endParaRPr lang="en-US" sz="1050" dirty="0"/>
          </a:p>
        </p:txBody>
      </p:sp>
      <p:sp>
        <p:nvSpPr>
          <p:cNvPr id="15" name="Text 13"/>
          <p:cNvSpPr/>
          <p:nvPr/>
        </p:nvSpPr>
        <p:spPr>
          <a:xfrm>
            <a:off x="4069080" y="2788920"/>
            <a:ext cx="365760" cy="457200"/>
          </a:xfrm>
          <a:prstGeom prst="rect">
            <a:avLst/>
          </a:prstGeom>
          <a:noFill/>
          <a:ln/>
        </p:spPr>
        <p:txBody>
          <a:bodyPr wrap="square" rtlCol="0" anchor="ctr"/>
          <a:lstStyle/>
          <a:p>
            <a:pPr marL="0" indent="0" algn="ctr">
              <a:buNone/>
            </a:pPr>
            <a:r>
              <a:rPr lang="en-US" sz="2200" b="1" dirty="0">
                <a:solidFill>
                  <a:srgbClr val="47556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4379976" y="2286000"/>
            <a:ext cx="1691640" cy="1737360"/>
          </a:xfrm>
          <a:prstGeom prst="roundRect">
            <a:avLst>
              <a:gd name="adj" fmla="val 4865"/>
            </a:avLst>
          </a:prstGeom>
          <a:solidFill>
            <a:srgbClr val="0F172A"/>
          </a:solidFill>
          <a:ln w="12700">
            <a:solidFill>
              <a:srgbClr val="2563EB"/>
            </a:solidFill>
            <a:prstDash val="solid"/>
          </a:ln>
        </p:spPr>
        <p:txBody>
          <a:bodyPr/>
          <a:lstStyle/>
          <a:p>
            <a:endParaRPr lang="en-US"/>
          </a:p>
        </p:txBody>
      </p:sp>
      <p:sp>
        <p:nvSpPr>
          <p:cNvPr id="17" name="Shape 15"/>
          <p:cNvSpPr/>
          <p:nvPr/>
        </p:nvSpPr>
        <p:spPr>
          <a:xfrm>
            <a:off x="4946904" y="2487168"/>
            <a:ext cx="548640" cy="548640"/>
          </a:xfrm>
          <a:prstGeom prst="ellipse">
            <a:avLst/>
          </a:prstGeom>
          <a:solidFill>
            <a:srgbClr val="2563EB"/>
          </a:solidFill>
          <a:ln/>
        </p:spPr>
        <p:txBody>
          <a:bodyPr/>
          <a:lstStyle/>
          <a:p>
            <a:endParaRPr lang="en-US"/>
          </a:p>
        </p:txBody>
      </p:sp>
      <p:sp>
        <p:nvSpPr>
          <p:cNvPr id="18" name="Text 16"/>
          <p:cNvSpPr/>
          <p:nvPr/>
        </p:nvSpPr>
        <p:spPr>
          <a:xfrm>
            <a:off x="4946904"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9" name="Text 17"/>
          <p:cNvSpPr/>
          <p:nvPr/>
        </p:nvSpPr>
        <p:spPr>
          <a:xfrm>
            <a:off x="4425696"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Transform</a:t>
            </a:r>
            <a:endParaRPr lang="en-US" sz="1500" dirty="0"/>
          </a:p>
        </p:txBody>
      </p:sp>
      <p:sp>
        <p:nvSpPr>
          <p:cNvPr id="20" name="Text 18"/>
          <p:cNvSpPr/>
          <p:nvPr/>
        </p:nvSpPr>
        <p:spPr>
          <a:xfrm>
            <a:off x="4425696"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Domain-aware ETL</a:t>
            </a:r>
            <a:endParaRPr lang="en-US" sz="1050" dirty="0"/>
          </a:p>
        </p:txBody>
      </p:sp>
      <p:sp>
        <p:nvSpPr>
          <p:cNvPr id="21" name="Text 19"/>
          <p:cNvSpPr/>
          <p:nvPr/>
        </p:nvSpPr>
        <p:spPr>
          <a:xfrm>
            <a:off x="6007608" y="2788920"/>
            <a:ext cx="365760" cy="457200"/>
          </a:xfrm>
          <a:prstGeom prst="rect">
            <a:avLst/>
          </a:prstGeom>
          <a:noFill/>
          <a:ln/>
        </p:spPr>
        <p:txBody>
          <a:bodyPr wrap="square" rtlCol="0" anchor="ctr"/>
          <a:lstStyle/>
          <a:p>
            <a:pPr marL="0" indent="0" algn="ctr">
              <a:buNone/>
            </a:pPr>
            <a:r>
              <a:rPr lang="en-US" sz="2200" b="1" dirty="0">
                <a:solidFill>
                  <a:srgbClr val="475569"/>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6318504" y="2286000"/>
            <a:ext cx="1691640" cy="1737360"/>
          </a:xfrm>
          <a:prstGeom prst="roundRect">
            <a:avLst>
              <a:gd name="adj" fmla="val 4865"/>
            </a:avLst>
          </a:prstGeom>
          <a:solidFill>
            <a:srgbClr val="0F172A"/>
          </a:solidFill>
          <a:ln w="12700">
            <a:solidFill>
              <a:srgbClr val="0D9488"/>
            </a:solidFill>
            <a:prstDash val="solid"/>
          </a:ln>
        </p:spPr>
        <p:txBody>
          <a:bodyPr/>
          <a:lstStyle/>
          <a:p>
            <a:endParaRPr lang="en-US"/>
          </a:p>
        </p:txBody>
      </p:sp>
      <p:sp>
        <p:nvSpPr>
          <p:cNvPr id="23" name="Shape 21"/>
          <p:cNvSpPr/>
          <p:nvPr/>
        </p:nvSpPr>
        <p:spPr>
          <a:xfrm>
            <a:off x="6885432" y="2487168"/>
            <a:ext cx="548640" cy="548640"/>
          </a:xfrm>
          <a:prstGeom prst="ellipse">
            <a:avLst/>
          </a:prstGeom>
          <a:solidFill>
            <a:srgbClr val="0D9488"/>
          </a:solidFill>
          <a:ln/>
        </p:spPr>
        <p:txBody>
          <a:bodyPr/>
          <a:lstStyle/>
          <a:p>
            <a:endParaRPr lang="en-US"/>
          </a:p>
        </p:txBody>
      </p:sp>
      <p:sp>
        <p:nvSpPr>
          <p:cNvPr id="24" name="Text 22"/>
          <p:cNvSpPr/>
          <p:nvPr/>
        </p:nvSpPr>
        <p:spPr>
          <a:xfrm>
            <a:off x="6885432"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5" name="Text 23"/>
          <p:cNvSpPr/>
          <p:nvPr/>
        </p:nvSpPr>
        <p:spPr>
          <a:xfrm>
            <a:off x="6364224"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p>
        </p:txBody>
      </p:sp>
      <p:sp>
        <p:nvSpPr>
          <p:cNvPr id="26" name="Text 24"/>
          <p:cNvSpPr/>
          <p:nvPr/>
        </p:nvSpPr>
        <p:spPr>
          <a:xfrm>
            <a:off x="6364224"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Star-schema warehouse</a:t>
            </a:r>
            <a:endParaRPr lang="en-US" sz="1050" dirty="0"/>
          </a:p>
        </p:txBody>
      </p:sp>
      <p:sp>
        <p:nvSpPr>
          <p:cNvPr id="27" name="Text 25"/>
          <p:cNvSpPr/>
          <p:nvPr/>
        </p:nvSpPr>
        <p:spPr>
          <a:xfrm>
            <a:off x="7946136" y="2788920"/>
            <a:ext cx="365760" cy="457200"/>
          </a:xfrm>
          <a:prstGeom prst="rect">
            <a:avLst/>
          </a:prstGeom>
          <a:noFill/>
          <a:ln/>
        </p:spPr>
        <p:txBody>
          <a:bodyPr wrap="square" rtlCol="0" anchor="ctr"/>
          <a:lstStyle/>
          <a:p>
            <a:pPr marL="0" indent="0" algn="ctr">
              <a:buNone/>
            </a:pPr>
            <a:r>
              <a:rPr lang="en-US" sz="2200" b="1" dirty="0">
                <a:solidFill>
                  <a:srgbClr val="475569"/>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8257032" y="2286000"/>
            <a:ext cx="1691640" cy="1737360"/>
          </a:xfrm>
          <a:prstGeom prst="roundRect">
            <a:avLst>
              <a:gd name="adj" fmla="val 4865"/>
            </a:avLst>
          </a:prstGeom>
          <a:solidFill>
            <a:srgbClr val="0F172A"/>
          </a:solidFill>
          <a:ln w="12700">
            <a:solidFill>
              <a:srgbClr val="2563EB"/>
            </a:solidFill>
            <a:prstDash val="solid"/>
          </a:ln>
        </p:spPr>
        <p:txBody>
          <a:bodyPr/>
          <a:lstStyle/>
          <a:p>
            <a:endParaRPr lang="en-US"/>
          </a:p>
        </p:txBody>
      </p:sp>
      <p:sp>
        <p:nvSpPr>
          <p:cNvPr id="29" name="Shape 27"/>
          <p:cNvSpPr/>
          <p:nvPr/>
        </p:nvSpPr>
        <p:spPr>
          <a:xfrm>
            <a:off x="8823960" y="2487168"/>
            <a:ext cx="548640" cy="548640"/>
          </a:xfrm>
          <a:prstGeom prst="ellipse">
            <a:avLst/>
          </a:prstGeom>
          <a:solidFill>
            <a:srgbClr val="2563EB"/>
          </a:solidFill>
          <a:ln/>
        </p:spPr>
        <p:txBody>
          <a:bodyPr/>
          <a:lstStyle/>
          <a:p>
            <a:endParaRPr lang="en-US"/>
          </a:p>
        </p:txBody>
      </p:sp>
      <p:sp>
        <p:nvSpPr>
          <p:cNvPr id="30" name="Text 28"/>
          <p:cNvSpPr/>
          <p:nvPr/>
        </p:nvSpPr>
        <p:spPr>
          <a:xfrm>
            <a:off x="8823960"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5</a:t>
            </a:r>
            <a:endParaRPr lang="en-US" sz="1320" dirty="0"/>
          </a:p>
        </p:txBody>
      </p:sp>
      <p:sp>
        <p:nvSpPr>
          <p:cNvPr id="31" name="Text 29"/>
          <p:cNvSpPr/>
          <p:nvPr/>
        </p:nvSpPr>
        <p:spPr>
          <a:xfrm>
            <a:off x="8302752"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32" name="Text 30"/>
          <p:cNvSpPr/>
          <p:nvPr/>
        </p:nvSpPr>
        <p:spPr>
          <a:xfrm>
            <a:off x="8302752"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Domain KPIs + AI</a:t>
            </a:r>
            <a:endParaRPr lang="en-US" sz="1050" dirty="0"/>
          </a:p>
        </p:txBody>
      </p:sp>
      <p:sp>
        <p:nvSpPr>
          <p:cNvPr id="33" name="Text 31"/>
          <p:cNvSpPr/>
          <p:nvPr/>
        </p:nvSpPr>
        <p:spPr>
          <a:xfrm>
            <a:off x="9884664" y="2788920"/>
            <a:ext cx="365760" cy="457200"/>
          </a:xfrm>
          <a:prstGeom prst="rect">
            <a:avLst/>
          </a:prstGeom>
          <a:noFill/>
          <a:ln/>
        </p:spPr>
        <p:txBody>
          <a:bodyPr wrap="square" rtlCol="0" anchor="ctr"/>
          <a:lstStyle/>
          <a:p>
            <a:pPr marL="0" indent="0" algn="ctr">
              <a:buNone/>
            </a:pPr>
            <a:r>
              <a:rPr lang="en-US" sz="2200" b="1" dirty="0">
                <a:solidFill>
                  <a:srgbClr val="475569"/>
                </a:solidFill>
                <a:latin typeface="Calibri" pitchFamily="34" charset="0"/>
                <a:ea typeface="Calibri" pitchFamily="34" charset="-122"/>
                <a:cs typeface="Calibri" pitchFamily="34" charset="-120"/>
              </a:rPr>
              <a:t>→</a:t>
            </a:r>
            <a:endParaRPr lang="en-US" sz="2200" dirty="0"/>
          </a:p>
        </p:txBody>
      </p:sp>
      <p:sp>
        <p:nvSpPr>
          <p:cNvPr id="34" name="Shape 32"/>
          <p:cNvSpPr/>
          <p:nvPr/>
        </p:nvSpPr>
        <p:spPr>
          <a:xfrm>
            <a:off x="10195560" y="2286000"/>
            <a:ext cx="1691640" cy="1737360"/>
          </a:xfrm>
          <a:prstGeom prst="roundRect">
            <a:avLst>
              <a:gd name="adj" fmla="val 4865"/>
            </a:avLst>
          </a:prstGeom>
          <a:solidFill>
            <a:srgbClr val="0F172A"/>
          </a:solidFill>
          <a:ln w="12700">
            <a:solidFill>
              <a:srgbClr val="0D9488"/>
            </a:solidFill>
            <a:prstDash val="solid"/>
          </a:ln>
        </p:spPr>
        <p:txBody>
          <a:bodyPr/>
          <a:lstStyle/>
          <a:p>
            <a:endParaRPr lang="en-US"/>
          </a:p>
        </p:txBody>
      </p:sp>
      <p:sp>
        <p:nvSpPr>
          <p:cNvPr id="35" name="Shape 33"/>
          <p:cNvSpPr/>
          <p:nvPr/>
        </p:nvSpPr>
        <p:spPr>
          <a:xfrm>
            <a:off x="10762488" y="2487168"/>
            <a:ext cx="548640" cy="548640"/>
          </a:xfrm>
          <a:prstGeom prst="ellipse">
            <a:avLst/>
          </a:prstGeom>
          <a:solidFill>
            <a:srgbClr val="0D9488"/>
          </a:solidFill>
          <a:ln/>
        </p:spPr>
        <p:txBody>
          <a:bodyPr/>
          <a:lstStyle/>
          <a:p>
            <a:endParaRPr lang="en-US"/>
          </a:p>
        </p:txBody>
      </p:sp>
      <p:sp>
        <p:nvSpPr>
          <p:cNvPr id="36" name="Text 34"/>
          <p:cNvSpPr/>
          <p:nvPr/>
        </p:nvSpPr>
        <p:spPr>
          <a:xfrm>
            <a:off x="10762488" y="2487168"/>
            <a:ext cx="548640" cy="54864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6</a:t>
            </a:r>
            <a:endParaRPr lang="en-US" sz="1320" dirty="0"/>
          </a:p>
        </p:txBody>
      </p:sp>
      <p:sp>
        <p:nvSpPr>
          <p:cNvPr id="37" name="Text 35"/>
          <p:cNvSpPr/>
          <p:nvPr/>
        </p:nvSpPr>
        <p:spPr>
          <a:xfrm>
            <a:off x="10241280" y="3127248"/>
            <a:ext cx="160020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Act</a:t>
            </a:r>
            <a:endParaRPr lang="en-US" sz="1500" dirty="0"/>
          </a:p>
        </p:txBody>
      </p:sp>
      <p:sp>
        <p:nvSpPr>
          <p:cNvPr id="38" name="Text 36"/>
          <p:cNvSpPr/>
          <p:nvPr/>
        </p:nvSpPr>
        <p:spPr>
          <a:xfrm>
            <a:off x="10241280" y="3493008"/>
            <a:ext cx="1600200" cy="45720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Alerts + mobile</a:t>
            </a:r>
            <a:endParaRPr lang="en-US" sz="1050" dirty="0"/>
          </a:p>
        </p:txBody>
      </p:sp>
      <p:sp>
        <p:nvSpPr>
          <p:cNvPr id="39" name="Shape 37"/>
          <p:cNvSpPr/>
          <p:nvPr/>
        </p:nvSpPr>
        <p:spPr>
          <a:xfrm>
            <a:off x="502920" y="4480560"/>
            <a:ext cx="11155680" cy="1554480"/>
          </a:xfrm>
          <a:prstGeom prst="roundRect">
            <a:avLst>
              <a:gd name="adj" fmla="val 5294"/>
            </a:avLst>
          </a:prstGeom>
          <a:solidFill>
            <a:srgbClr val="0F172A"/>
          </a:solidFill>
          <a:ln/>
        </p:spPr>
        <p:txBody>
          <a:bodyPr/>
          <a:lstStyle/>
          <a:p>
            <a:endParaRPr lang="en-US"/>
          </a:p>
        </p:txBody>
      </p:sp>
      <p:sp>
        <p:nvSpPr>
          <p:cNvPr id="40" name="Text 38"/>
          <p:cNvSpPr/>
          <p:nvPr/>
        </p:nvSpPr>
        <p:spPr>
          <a:xfrm>
            <a:off x="777240" y="4663440"/>
            <a:ext cx="10607040" cy="1188720"/>
          </a:xfrm>
          <a:prstGeom prst="rect">
            <a:avLst/>
          </a:prstGeom>
          <a:noFill/>
          <a:ln/>
        </p:spPr>
        <p:txBody>
          <a:bodyPr wrap="square" rtlCol="0" anchor="ctr"/>
          <a:lstStyle/>
          <a:p>
            <a:pPr marL="0" indent="0">
              <a:lnSpc>
                <a:spcPct val="115000"/>
              </a:lnSpc>
              <a:buNone/>
            </a:pPr>
            <a:r>
              <a:rPr lang="en-US" sz="1400" b="1" dirty="0">
                <a:solidFill>
                  <a:srgbClr val="93C5FD"/>
                </a:solidFill>
                <a:latin typeface="Calibri" pitchFamily="34" charset="0"/>
                <a:ea typeface="Calibri" pitchFamily="34" charset="-122"/>
                <a:cs typeface="Calibri" pitchFamily="34" charset="-120"/>
              </a:rPr>
              <a:t>Power BI / Tableau: </a:t>
            </a:r>
            <a:r>
              <a:rPr lang="en-US" sz="1400" dirty="0">
                <a:solidFill>
                  <a:srgbClr val="CBD5E1"/>
                </a:solidFill>
                <a:latin typeface="Calibri" pitchFamily="34" charset="0"/>
                <a:ea typeface="Calibri" pitchFamily="34" charset="-122"/>
                <a:cs typeface="Calibri" pitchFamily="34" charset="-120"/>
              </a:rPr>
              <a:t>a developer does steps 1–4 before anyone sees a chart.   </a:t>
            </a:r>
            <a:endParaRPr lang="en-US" sz="1400" dirty="0"/>
          </a:p>
          <a:p>
            <a:pPr marL="0" indent="0">
              <a:lnSpc>
                <a:spcPct val="115000"/>
              </a:lnSpc>
              <a:buNone/>
            </a:pPr>
            <a:r>
              <a:rPr lang="en-US" sz="1400" b="1" dirty="0">
                <a:solidFill>
                  <a:srgbClr val="C4B5FD"/>
                </a:solidFill>
                <a:latin typeface="Calibri" pitchFamily="34" charset="0"/>
                <a:ea typeface="Calibri" pitchFamily="34" charset="-122"/>
                <a:cs typeface="Calibri" pitchFamily="34" charset="-120"/>
              </a:rPr>
              <a:t>ChatGPT: </a:t>
            </a:r>
            <a:r>
              <a:rPr lang="en-US" sz="1400" dirty="0">
                <a:solidFill>
                  <a:srgbClr val="CBD5E1"/>
                </a:solidFill>
                <a:latin typeface="Calibri" pitchFamily="34" charset="0"/>
                <a:ea typeface="Calibri" pitchFamily="34" charset="-122"/>
                <a:cs typeface="Calibri" pitchFamily="34" charset="-120"/>
              </a:rPr>
              <a:t>does step 5 once, then forgets.   </a:t>
            </a:r>
            <a:endParaRPr lang="en-US" sz="1400" dirty="0"/>
          </a:p>
          <a:p>
            <a:pPr marL="0" indent="0">
              <a:lnSpc>
                <a:spcPct val="115000"/>
              </a:lnSpc>
              <a:buNone/>
            </a:pPr>
            <a:r>
              <a:rPr lang="en-US" sz="1400" b="1" dirty="0">
                <a:solidFill>
                  <a:srgbClr val="5EEAD4"/>
                </a:solidFill>
                <a:latin typeface="Calibri" pitchFamily="34" charset="0"/>
                <a:ea typeface="Calibri" pitchFamily="34" charset="-122"/>
                <a:cs typeface="Calibri" pitchFamily="34" charset="-120"/>
              </a:rPr>
              <a:t>InsightHub: </a:t>
            </a:r>
            <a:r>
              <a:rPr lang="en-US" sz="1400" dirty="0">
                <a:solidFill>
                  <a:srgbClr val="FFFFFF"/>
                </a:solidFill>
                <a:latin typeface="Calibri" pitchFamily="34" charset="0"/>
                <a:ea typeface="Calibri" pitchFamily="34" charset="-122"/>
                <a:cs typeface="Calibri" pitchFamily="34" charset="-120"/>
              </a:rPr>
              <a:t>does all six, automatically, and keeps doing them.</a:t>
            </a:r>
            <a:endParaRPr lang="en-US" sz="1400" dirty="0"/>
          </a:p>
        </p:txBody>
      </p:sp>
      <p:sp>
        <p:nvSpPr>
          <p:cNvPr id="41" name="Text 39"/>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4</a:t>
            </a:r>
            <a:endParaRPr lang="en-US" sz="900" dirty="0"/>
          </a:p>
        </p:txBody>
      </p:sp>
      <p:sp>
        <p:nvSpPr>
          <p:cNvPr id="42" name="Text 40"/>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0D9488"/>
                </a:solidFill>
                <a:latin typeface="Calibri" pitchFamily="34" charset="0"/>
                <a:ea typeface="Calibri" pitchFamily="34" charset="-122"/>
                <a:cs typeface="Calibri" pitchFamily="34" charset="-120"/>
              </a:rPr>
              <a:t>THE DIFFERENTIATOR</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Why this is a moat, not a feature</a:t>
            </a:r>
            <a:endParaRPr lang="en-US" sz="3200" dirty="0"/>
          </a:p>
        </p:txBody>
      </p:sp>
      <p:sp>
        <p:nvSpPr>
          <p:cNvPr id="4" name="Text 2"/>
          <p:cNvSpPr/>
          <p:nvPr/>
        </p:nvSpPr>
        <p:spPr>
          <a:xfrm>
            <a:off x="548640" y="1417320"/>
            <a:ext cx="10972800" cy="457200"/>
          </a:xfrm>
          <a:prstGeom prst="rect">
            <a:avLst/>
          </a:prstGeom>
          <a:noFill/>
          <a:ln/>
        </p:spPr>
        <p:txBody>
          <a:bodyPr wrap="square"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Frontier AI will keep getting better at one-time analysis. We don't compete there — we compete on the system around it.</a:t>
            </a:r>
            <a:endParaRPr lang="en-US" sz="1400" dirty="0"/>
          </a:p>
        </p:txBody>
      </p:sp>
      <p:sp>
        <p:nvSpPr>
          <p:cNvPr id="5" name="Shape 3"/>
          <p:cNvSpPr/>
          <p:nvPr/>
        </p:nvSpPr>
        <p:spPr>
          <a:xfrm>
            <a:off x="548640" y="2057400"/>
            <a:ext cx="5394960" cy="1737360"/>
          </a:xfrm>
          <a:prstGeom prst="roundRect">
            <a:avLst>
              <a:gd name="adj" fmla="val 4737"/>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6" name="Shape 4"/>
          <p:cNvSpPr/>
          <p:nvPr/>
        </p:nvSpPr>
        <p:spPr>
          <a:xfrm>
            <a:off x="548640" y="2057400"/>
            <a:ext cx="128016" cy="1737360"/>
          </a:xfrm>
          <a:prstGeom prst="roundRect">
            <a:avLst>
              <a:gd name="adj" fmla="val 14286"/>
            </a:avLst>
          </a:prstGeom>
          <a:solidFill>
            <a:srgbClr val="0D9488"/>
          </a:solidFill>
          <a:ln/>
        </p:spPr>
        <p:txBody>
          <a:bodyPr/>
          <a:lstStyle/>
          <a:p>
            <a:endParaRPr lang="en-US"/>
          </a:p>
        </p:txBody>
      </p:sp>
      <p:sp>
        <p:nvSpPr>
          <p:cNvPr id="7" name="Text 5"/>
          <p:cNvSpPr/>
          <p:nvPr/>
        </p:nvSpPr>
        <p:spPr>
          <a:xfrm>
            <a:off x="868680" y="2221992"/>
            <a:ext cx="4846320" cy="457200"/>
          </a:xfrm>
          <a:prstGeom prst="rect">
            <a:avLst/>
          </a:prstGeom>
          <a:noFill/>
          <a:ln/>
        </p:spPr>
        <p:txBody>
          <a:bodyPr wrap="square" rtlCol="0" anchor="ctr"/>
          <a:lstStyle/>
          <a:p>
            <a:pPr marL="0" indent="0">
              <a:buNone/>
            </a:pPr>
            <a:r>
              <a:rPr lang="en-US" sz="1900" b="1" dirty="0">
                <a:solidFill>
                  <a:srgbClr val="0D9488"/>
                </a:solidFill>
                <a:latin typeface="Calibri" pitchFamily="34" charset="0"/>
                <a:ea typeface="Calibri" pitchFamily="34" charset="-122"/>
                <a:cs typeface="Calibri" pitchFamily="34" charset="-120"/>
              </a:rPr>
              <a:t>Persistence</a:t>
            </a:r>
            <a:endParaRPr lang="en-US" sz="1900" dirty="0"/>
          </a:p>
        </p:txBody>
      </p:sp>
      <p:sp>
        <p:nvSpPr>
          <p:cNvPr id="8" name="Text 6"/>
          <p:cNvSpPr/>
          <p:nvPr/>
        </p:nvSpPr>
        <p:spPr>
          <a:xfrm>
            <a:off x="868680" y="2715768"/>
            <a:ext cx="4892040" cy="1005840"/>
          </a:xfrm>
          <a:prstGeom prst="rect">
            <a:avLst/>
          </a:prstGeom>
          <a:noFill/>
          <a:ln/>
        </p:spPr>
        <p:txBody>
          <a:bodyPr wrap="square" rtlCol="0" anchor="t"/>
          <a:lstStyle/>
          <a:p>
            <a:pPr marL="0" indent="0">
              <a:lnSpc>
                <a:spcPct val="105000"/>
              </a:lnSpc>
              <a:buNone/>
            </a:pPr>
            <a:r>
              <a:rPr lang="en-US" sz="1300" dirty="0">
                <a:solidFill>
                  <a:srgbClr val="475569"/>
                </a:solidFill>
                <a:latin typeface="Calibri" pitchFamily="34" charset="0"/>
                <a:ea typeface="Calibri" pitchFamily="34" charset="-122"/>
                <a:cs typeface="Calibri" pitchFamily="34" charset="-120"/>
              </a:rPr>
              <a:t>Every load accumulates in the warehouse. This month sits beside last month automatically. A chat window starts from zero every time.</a:t>
            </a:r>
            <a:endParaRPr lang="en-US" sz="1300" dirty="0"/>
          </a:p>
        </p:txBody>
      </p:sp>
      <p:sp>
        <p:nvSpPr>
          <p:cNvPr id="9" name="Shape 7"/>
          <p:cNvSpPr/>
          <p:nvPr/>
        </p:nvSpPr>
        <p:spPr>
          <a:xfrm>
            <a:off x="6217920" y="2057400"/>
            <a:ext cx="5394960" cy="1737360"/>
          </a:xfrm>
          <a:prstGeom prst="roundRect">
            <a:avLst>
              <a:gd name="adj" fmla="val 4737"/>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0" name="Shape 8"/>
          <p:cNvSpPr/>
          <p:nvPr/>
        </p:nvSpPr>
        <p:spPr>
          <a:xfrm>
            <a:off x="6217920" y="2057400"/>
            <a:ext cx="128016" cy="1737360"/>
          </a:xfrm>
          <a:prstGeom prst="roundRect">
            <a:avLst>
              <a:gd name="adj" fmla="val 14286"/>
            </a:avLst>
          </a:prstGeom>
          <a:solidFill>
            <a:srgbClr val="2563EB"/>
          </a:solidFill>
          <a:ln/>
        </p:spPr>
        <p:txBody>
          <a:bodyPr/>
          <a:lstStyle/>
          <a:p>
            <a:endParaRPr lang="en-US"/>
          </a:p>
        </p:txBody>
      </p:sp>
      <p:sp>
        <p:nvSpPr>
          <p:cNvPr id="11" name="Text 9"/>
          <p:cNvSpPr/>
          <p:nvPr/>
        </p:nvSpPr>
        <p:spPr>
          <a:xfrm>
            <a:off x="6537960" y="2221992"/>
            <a:ext cx="4846320" cy="457200"/>
          </a:xfrm>
          <a:prstGeom prst="rect">
            <a:avLst/>
          </a:prstGeom>
          <a:noFill/>
          <a:ln/>
        </p:spPr>
        <p:txBody>
          <a:bodyPr wrap="square" rtlCol="0" anchor="ctr"/>
          <a:lstStyle/>
          <a:p>
            <a:pPr marL="0" indent="0">
              <a:buNone/>
            </a:pPr>
            <a:r>
              <a:rPr lang="en-US" sz="1900" b="1" dirty="0">
                <a:solidFill>
                  <a:srgbClr val="2563EB"/>
                </a:solidFill>
                <a:latin typeface="Calibri" pitchFamily="34" charset="0"/>
                <a:ea typeface="Calibri" pitchFamily="34" charset="-122"/>
                <a:cs typeface="Calibri" pitchFamily="34" charset="-120"/>
              </a:rPr>
              <a:t>Governance</a:t>
            </a:r>
            <a:endParaRPr lang="en-US" sz="1900" dirty="0"/>
          </a:p>
        </p:txBody>
      </p:sp>
      <p:sp>
        <p:nvSpPr>
          <p:cNvPr id="12" name="Text 10"/>
          <p:cNvSpPr/>
          <p:nvPr/>
        </p:nvSpPr>
        <p:spPr>
          <a:xfrm>
            <a:off x="6537960" y="2715768"/>
            <a:ext cx="4892040" cy="1005840"/>
          </a:xfrm>
          <a:prstGeom prst="rect">
            <a:avLst/>
          </a:prstGeom>
          <a:noFill/>
          <a:ln/>
        </p:spPr>
        <p:txBody>
          <a:bodyPr wrap="square" rtlCol="0" anchor="t"/>
          <a:lstStyle/>
          <a:p>
            <a:pPr marL="0" indent="0">
              <a:lnSpc>
                <a:spcPct val="105000"/>
              </a:lnSpc>
              <a:buNone/>
            </a:pPr>
            <a:r>
              <a:rPr lang="en-US" sz="1300" dirty="0">
                <a:solidFill>
                  <a:srgbClr val="475569"/>
                </a:solidFill>
                <a:latin typeface="Calibri" pitchFamily="34" charset="0"/>
                <a:ea typeface="Calibri" pitchFamily="34" charset="-122"/>
                <a:cs typeface="Calibri" pitchFamily="34" charset="-120"/>
              </a:rPr>
              <a:t>Multi-tenant RBAC, row/column restriction by role, audit, lineage, GDPR/CCPA. A chat thread is one person with no controls.</a:t>
            </a:r>
            <a:endParaRPr lang="en-US" sz="1300" dirty="0"/>
          </a:p>
        </p:txBody>
      </p:sp>
      <p:sp>
        <p:nvSpPr>
          <p:cNvPr id="13" name="Shape 11"/>
          <p:cNvSpPr/>
          <p:nvPr/>
        </p:nvSpPr>
        <p:spPr>
          <a:xfrm>
            <a:off x="548640" y="3977640"/>
            <a:ext cx="5394960" cy="1737360"/>
          </a:xfrm>
          <a:prstGeom prst="roundRect">
            <a:avLst>
              <a:gd name="adj" fmla="val 4737"/>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4" name="Shape 12"/>
          <p:cNvSpPr/>
          <p:nvPr/>
        </p:nvSpPr>
        <p:spPr>
          <a:xfrm>
            <a:off x="548640" y="3977640"/>
            <a:ext cx="128016" cy="1737360"/>
          </a:xfrm>
          <a:prstGeom prst="roundRect">
            <a:avLst>
              <a:gd name="adj" fmla="val 14286"/>
            </a:avLst>
          </a:prstGeom>
          <a:solidFill>
            <a:srgbClr val="D97706"/>
          </a:solidFill>
          <a:ln/>
        </p:spPr>
        <p:txBody>
          <a:bodyPr/>
          <a:lstStyle/>
          <a:p>
            <a:endParaRPr lang="en-US"/>
          </a:p>
        </p:txBody>
      </p:sp>
      <p:sp>
        <p:nvSpPr>
          <p:cNvPr id="15" name="Text 13"/>
          <p:cNvSpPr/>
          <p:nvPr/>
        </p:nvSpPr>
        <p:spPr>
          <a:xfrm>
            <a:off x="868680" y="4142232"/>
            <a:ext cx="4846320" cy="457200"/>
          </a:xfrm>
          <a:prstGeom prst="rect">
            <a:avLst/>
          </a:prstGeom>
          <a:noFill/>
          <a:ln/>
        </p:spPr>
        <p:txBody>
          <a:bodyPr wrap="square" rtlCol="0" anchor="ctr"/>
          <a:lstStyle/>
          <a:p>
            <a:pPr marL="0" indent="0">
              <a:buNone/>
            </a:pPr>
            <a:r>
              <a:rPr lang="en-US" sz="1900" b="1" dirty="0">
                <a:solidFill>
                  <a:srgbClr val="D97706"/>
                </a:solidFill>
                <a:latin typeface="Calibri" pitchFamily="34" charset="0"/>
                <a:ea typeface="Calibri" pitchFamily="34" charset="-122"/>
                <a:cs typeface="Calibri" pitchFamily="34" charset="-120"/>
              </a:rPr>
              <a:t>Proactivity</a:t>
            </a:r>
            <a:endParaRPr lang="en-US" sz="1900" dirty="0"/>
          </a:p>
        </p:txBody>
      </p:sp>
      <p:sp>
        <p:nvSpPr>
          <p:cNvPr id="16" name="Text 14"/>
          <p:cNvSpPr/>
          <p:nvPr/>
        </p:nvSpPr>
        <p:spPr>
          <a:xfrm>
            <a:off x="868680" y="4636008"/>
            <a:ext cx="4892040" cy="1005840"/>
          </a:xfrm>
          <a:prstGeom prst="rect">
            <a:avLst/>
          </a:prstGeom>
          <a:noFill/>
          <a:ln/>
        </p:spPr>
        <p:txBody>
          <a:bodyPr wrap="square" rtlCol="0" anchor="t"/>
          <a:lstStyle/>
          <a:p>
            <a:pPr marL="0" indent="0">
              <a:lnSpc>
                <a:spcPct val="105000"/>
              </a:lnSpc>
              <a:buNone/>
            </a:pPr>
            <a:r>
              <a:rPr lang="en-US" sz="1300" dirty="0">
                <a:solidFill>
                  <a:srgbClr val="475569"/>
                </a:solidFill>
                <a:latin typeface="Calibri" pitchFamily="34" charset="0"/>
                <a:ea typeface="Calibri" pitchFamily="34" charset="-122"/>
                <a:cs typeface="Calibri" pitchFamily="34" charset="-120"/>
              </a:rPr>
              <a:t>Threshold + anomaly alerts fire on their own to email/SMS/WhatsApp/Slack. Nobody has to remember to ask the right question.</a:t>
            </a:r>
            <a:endParaRPr lang="en-US" sz="1300" dirty="0"/>
          </a:p>
        </p:txBody>
      </p:sp>
      <p:sp>
        <p:nvSpPr>
          <p:cNvPr id="17" name="Shape 15"/>
          <p:cNvSpPr/>
          <p:nvPr/>
        </p:nvSpPr>
        <p:spPr>
          <a:xfrm>
            <a:off x="6217920" y="3977640"/>
            <a:ext cx="5394960" cy="1737360"/>
          </a:xfrm>
          <a:prstGeom prst="roundRect">
            <a:avLst>
              <a:gd name="adj" fmla="val 4737"/>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8" name="Shape 16"/>
          <p:cNvSpPr/>
          <p:nvPr/>
        </p:nvSpPr>
        <p:spPr>
          <a:xfrm>
            <a:off x="6217920" y="3977640"/>
            <a:ext cx="128016" cy="1737360"/>
          </a:xfrm>
          <a:prstGeom prst="roundRect">
            <a:avLst>
              <a:gd name="adj" fmla="val 14286"/>
            </a:avLst>
          </a:prstGeom>
          <a:solidFill>
            <a:srgbClr val="7C3AED"/>
          </a:solidFill>
          <a:ln/>
        </p:spPr>
        <p:txBody>
          <a:bodyPr/>
          <a:lstStyle/>
          <a:p>
            <a:endParaRPr lang="en-US"/>
          </a:p>
        </p:txBody>
      </p:sp>
      <p:sp>
        <p:nvSpPr>
          <p:cNvPr id="19" name="Text 17"/>
          <p:cNvSpPr/>
          <p:nvPr/>
        </p:nvSpPr>
        <p:spPr>
          <a:xfrm>
            <a:off x="6537960" y="4142232"/>
            <a:ext cx="4846320" cy="457200"/>
          </a:xfrm>
          <a:prstGeom prst="rect">
            <a:avLst/>
          </a:prstGeom>
          <a:noFill/>
          <a:ln/>
        </p:spPr>
        <p:txBody>
          <a:bodyPr wrap="square" rtlCol="0" anchor="ctr"/>
          <a:lstStyle/>
          <a:p>
            <a:pPr marL="0" indent="0">
              <a:buNone/>
            </a:pPr>
            <a:r>
              <a:rPr lang="en-US" sz="1900" b="1" dirty="0">
                <a:solidFill>
                  <a:srgbClr val="7C3AED"/>
                </a:solidFill>
                <a:latin typeface="Calibri" pitchFamily="34" charset="0"/>
                <a:ea typeface="Calibri" pitchFamily="34" charset="-122"/>
                <a:cs typeface="Calibri" pitchFamily="34" charset="-120"/>
              </a:rPr>
              <a:t>Domain-tuning</a:t>
            </a:r>
            <a:endParaRPr lang="en-US" sz="1900" dirty="0"/>
          </a:p>
        </p:txBody>
      </p:sp>
      <p:sp>
        <p:nvSpPr>
          <p:cNvPr id="20" name="Text 18"/>
          <p:cNvSpPr/>
          <p:nvPr/>
        </p:nvSpPr>
        <p:spPr>
          <a:xfrm>
            <a:off x="6537960" y="4636008"/>
            <a:ext cx="4892040" cy="1005840"/>
          </a:xfrm>
          <a:prstGeom prst="rect">
            <a:avLst/>
          </a:prstGeom>
          <a:noFill/>
          <a:ln/>
        </p:spPr>
        <p:txBody>
          <a:bodyPr wrap="square" rtlCol="0" anchor="t"/>
          <a:lstStyle/>
          <a:p>
            <a:pPr marL="0" indent="0">
              <a:lnSpc>
                <a:spcPct val="105000"/>
              </a:lnSpc>
              <a:buNone/>
            </a:pPr>
            <a:r>
              <a:rPr lang="en-US" sz="1300" dirty="0">
                <a:solidFill>
                  <a:srgbClr val="475569"/>
                </a:solidFill>
                <a:latin typeface="Calibri" pitchFamily="34" charset="0"/>
                <a:ea typeface="Calibri" pitchFamily="34" charset="-122"/>
                <a:cs typeface="Calibri" pitchFamily="34" charset="-120"/>
              </a:rPr>
              <a:t>Pharmacy, SaaS, retail, accounting — the first answer is already tuned to the business, not a blank slate you re-teach each time.</a:t>
            </a:r>
            <a:endParaRPr lang="en-US" sz="1300" dirty="0"/>
          </a:p>
        </p:txBody>
      </p:sp>
      <p:sp>
        <p:nvSpPr>
          <p:cNvPr id="21" name="Text 19"/>
          <p:cNvSpPr/>
          <p:nvPr/>
        </p:nvSpPr>
        <p:spPr>
          <a:xfrm>
            <a:off x="548640" y="5989320"/>
            <a:ext cx="10972800" cy="457200"/>
          </a:xfrm>
          <a:prstGeom prst="rect">
            <a:avLst/>
          </a:prstGeom>
          <a:noFill/>
          <a:ln/>
        </p:spPr>
        <p:txBody>
          <a:bodyPr wrap="square"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Positioning line: "The operational layer that turns one-off AI brilliance into a recurring, governed habit."</a:t>
            </a:r>
            <a:endParaRPr lang="en-US" sz="1350" dirty="0"/>
          </a:p>
        </p:txBody>
      </p:sp>
      <p:sp>
        <p:nvSpPr>
          <p:cNvPr id="22" name="Text 20"/>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5</a:t>
            </a:r>
            <a:endParaRPr lang="en-US" sz="900" dirty="0"/>
          </a:p>
        </p:txBody>
      </p:sp>
      <p:sp>
        <p:nvSpPr>
          <p:cNvPr id="23" name="Text 21"/>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2563EB"/>
                </a:solidFill>
                <a:latin typeface="Calibri" pitchFamily="34" charset="0"/>
                <a:ea typeface="Calibri" pitchFamily="34" charset="-122"/>
                <a:cs typeface="Calibri" pitchFamily="34" charset="-120"/>
              </a:rPr>
              <a:t>CAPABILITIES</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What's in the box</a:t>
            </a:r>
            <a:endParaRPr lang="en-US" sz="3200" dirty="0"/>
          </a:p>
        </p:txBody>
      </p:sp>
      <p:sp>
        <p:nvSpPr>
          <p:cNvPr id="4" name="Shape 2"/>
          <p:cNvSpPr/>
          <p:nvPr/>
        </p:nvSpPr>
        <p:spPr>
          <a:xfrm>
            <a:off x="548640" y="169164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5" name="Shape 3"/>
          <p:cNvSpPr/>
          <p:nvPr/>
        </p:nvSpPr>
        <p:spPr>
          <a:xfrm>
            <a:off x="777240" y="1911096"/>
            <a:ext cx="566928" cy="566928"/>
          </a:xfrm>
          <a:prstGeom prst="ellipse">
            <a:avLst/>
          </a:prstGeom>
          <a:solidFill>
            <a:srgbClr val="2563EB"/>
          </a:solidFill>
          <a:ln/>
        </p:spPr>
        <p:txBody>
          <a:bodyPr/>
          <a:lstStyle/>
          <a:p>
            <a:endParaRPr lang="en-US"/>
          </a:p>
        </p:txBody>
      </p:sp>
      <p:sp>
        <p:nvSpPr>
          <p:cNvPr id="6" name="Text 4"/>
          <p:cNvSpPr/>
          <p:nvPr/>
        </p:nvSpPr>
        <p:spPr>
          <a:xfrm>
            <a:off x="777240" y="191109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7" name="Text 5"/>
          <p:cNvSpPr/>
          <p:nvPr/>
        </p:nvSpPr>
        <p:spPr>
          <a:xfrm>
            <a:off x="749808" y="256032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Auto ingest</a:t>
            </a:r>
            <a:endParaRPr lang="en-US" sz="1450" dirty="0"/>
          </a:p>
        </p:txBody>
      </p:sp>
      <p:sp>
        <p:nvSpPr>
          <p:cNvPr id="8" name="Text 6"/>
          <p:cNvSpPr/>
          <p:nvPr/>
        </p:nvSpPr>
        <p:spPr>
          <a:xfrm>
            <a:off x="749808" y="292608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Excel/CSV upload, scheduled connectors, ERP file-drop</a:t>
            </a:r>
            <a:endParaRPr lang="en-US" sz="1100" dirty="0"/>
          </a:p>
        </p:txBody>
      </p:sp>
      <p:sp>
        <p:nvSpPr>
          <p:cNvPr id="9" name="Shape 7"/>
          <p:cNvSpPr/>
          <p:nvPr/>
        </p:nvSpPr>
        <p:spPr>
          <a:xfrm>
            <a:off x="3383280" y="169164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0" name="Shape 8"/>
          <p:cNvSpPr/>
          <p:nvPr/>
        </p:nvSpPr>
        <p:spPr>
          <a:xfrm>
            <a:off x="3611880" y="1911096"/>
            <a:ext cx="566928" cy="566928"/>
          </a:xfrm>
          <a:prstGeom prst="ellipse">
            <a:avLst/>
          </a:prstGeom>
          <a:solidFill>
            <a:srgbClr val="0D9488"/>
          </a:solidFill>
          <a:ln/>
        </p:spPr>
        <p:txBody>
          <a:bodyPr/>
          <a:lstStyle/>
          <a:p>
            <a:endParaRPr lang="en-US"/>
          </a:p>
        </p:txBody>
      </p:sp>
      <p:sp>
        <p:nvSpPr>
          <p:cNvPr id="11" name="Text 9"/>
          <p:cNvSpPr/>
          <p:nvPr/>
        </p:nvSpPr>
        <p:spPr>
          <a:xfrm>
            <a:off x="3611880" y="191109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12" name="Text 10"/>
          <p:cNvSpPr/>
          <p:nvPr/>
        </p:nvSpPr>
        <p:spPr>
          <a:xfrm>
            <a:off x="3584448" y="256032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Domain detection</a:t>
            </a:r>
            <a:endParaRPr lang="en-US" sz="1450" dirty="0"/>
          </a:p>
        </p:txBody>
      </p:sp>
      <p:sp>
        <p:nvSpPr>
          <p:cNvPr id="13" name="Text 11"/>
          <p:cNvSpPr/>
          <p:nvPr/>
        </p:nvSpPr>
        <p:spPr>
          <a:xfrm>
            <a:off x="3584448" y="292608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Auto-recognizes the business type from your columns</a:t>
            </a:r>
            <a:endParaRPr lang="en-US" sz="1100" dirty="0"/>
          </a:p>
        </p:txBody>
      </p:sp>
      <p:sp>
        <p:nvSpPr>
          <p:cNvPr id="14" name="Shape 12"/>
          <p:cNvSpPr/>
          <p:nvPr/>
        </p:nvSpPr>
        <p:spPr>
          <a:xfrm>
            <a:off x="6217920" y="169164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5" name="Shape 13"/>
          <p:cNvSpPr/>
          <p:nvPr/>
        </p:nvSpPr>
        <p:spPr>
          <a:xfrm>
            <a:off x="6446520" y="1911096"/>
            <a:ext cx="566928" cy="566928"/>
          </a:xfrm>
          <a:prstGeom prst="ellipse">
            <a:avLst/>
          </a:prstGeom>
          <a:solidFill>
            <a:srgbClr val="D97706"/>
          </a:solidFill>
          <a:ln/>
        </p:spPr>
        <p:txBody>
          <a:bodyPr/>
          <a:lstStyle/>
          <a:p>
            <a:endParaRPr lang="en-US"/>
          </a:p>
        </p:txBody>
      </p:sp>
      <p:sp>
        <p:nvSpPr>
          <p:cNvPr id="16" name="Text 14"/>
          <p:cNvSpPr/>
          <p:nvPr/>
        </p:nvSpPr>
        <p:spPr>
          <a:xfrm>
            <a:off x="6446520" y="191109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17" name="Text 15"/>
          <p:cNvSpPr/>
          <p:nvPr/>
        </p:nvSpPr>
        <p:spPr>
          <a:xfrm>
            <a:off x="6419088" y="256032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Automated ETL</a:t>
            </a:r>
            <a:endParaRPr lang="en-US" sz="1450" dirty="0"/>
          </a:p>
        </p:txBody>
      </p:sp>
      <p:sp>
        <p:nvSpPr>
          <p:cNvPr id="18" name="Text 16"/>
          <p:cNvSpPr/>
          <p:nvPr/>
        </p:nvSpPr>
        <p:spPr>
          <a:xfrm>
            <a:off x="6419088" y="292608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Cleans, transforms &amp; models on every load — no setup</a:t>
            </a:r>
            <a:endParaRPr lang="en-US" sz="1100" dirty="0"/>
          </a:p>
        </p:txBody>
      </p:sp>
      <p:sp>
        <p:nvSpPr>
          <p:cNvPr id="19" name="Shape 17"/>
          <p:cNvSpPr/>
          <p:nvPr/>
        </p:nvSpPr>
        <p:spPr>
          <a:xfrm>
            <a:off x="9052560" y="169164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20" name="Shape 18"/>
          <p:cNvSpPr/>
          <p:nvPr/>
        </p:nvSpPr>
        <p:spPr>
          <a:xfrm>
            <a:off x="9281160" y="1911096"/>
            <a:ext cx="566928" cy="566928"/>
          </a:xfrm>
          <a:prstGeom prst="ellipse">
            <a:avLst/>
          </a:prstGeom>
          <a:solidFill>
            <a:srgbClr val="059669"/>
          </a:solidFill>
          <a:ln/>
        </p:spPr>
        <p:txBody>
          <a:bodyPr/>
          <a:lstStyle/>
          <a:p>
            <a:endParaRPr lang="en-US"/>
          </a:p>
        </p:txBody>
      </p:sp>
      <p:sp>
        <p:nvSpPr>
          <p:cNvPr id="21" name="Text 19"/>
          <p:cNvSpPr/>
          <p:nvPr/>
        </p:nvSpPr>
        <p:spPr>
          <a:xfrm>
            <a:off x="9281160" y="191109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22" name="Text 20"/>
          <p:cNvSpPr/>
          <p:nvPr/>
        </p:nvSpPr>
        <p:spPr>
          <a:xfrm>
            <a:off x="9253728" y="256032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Domain analytics</a:t>
            </a:r>
            <a:endParaRPr lang="en-US" sz="1450" dirty="0"/>
          </a:p>
        </p:txBody>
      </p:sp>
      <p:sp>
        <p:nvSpPr>
          <p:cNvPr id="23" name="Text 21"/>
          <p:cNvSpPr/>
          <p:nvPr/>
        </p:nvSpPr>
        <p:spPr>
          <a:xfrm>
            <a:off x="9253728" y="292608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KPIs, trends, cash flow, cohorts in your industry's language</a:t>
            </a:r>
            <a:endParaRPr lang="en-US" sz="1100" dirty="0"/>
          </a:p>
        </p:txBody>
      </p:sp>
      <p:sp>
        <p:nvSpPr>
          <p:cNvPr id="24" name="Shape 22"/>
          <p:cNvSpPr/>
          <p:nvPr/>
        </p:nvSpPr>
        <p:spPr>
          <a:xfrm>
            <a:off x="548640" y="384048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25" name="Shape 23"/>
          <p:cNvSpPr/>
          <p:nvPr/>
        </p:nvSpPr>
        <p:spPr>
          <a:xfrm>
            <a:off x="777240" y="4059936"/>
            <a:ext cx="566928" cy="566928"/>
          </a:xfrm>
          <a:prstGeom prst="ellipse">
            <a:avLst/>
          </a:prstGeom>
          <a:solidFill>
            <a:srgbClr val="7C3AED"/>
          </a:solidFill>
          <a:ln/>
        </p:spPr>
        <p:txBody>
          <a:bodyPr/>
          <a:lstStyle/>
          <a:p>
            <a:endParaRPr lang="en-US"/>
          </a:p>
        </p:txBody>
      </p:sp>
      <p:sp>
        <p:nvSpPr>
          <p:cNvPr id="26" name="Text 24"/>
          <p:cNvSpPr/>
          <p:nvPr/>
        </p:nvSpPr>
        <p:spPr>
          <a:xfrm>
            <a:off x="777240" y="405993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27" name="Text 25"/>
          <p:cNvSpPr/>
          <p:nvPr/>
        </p:nvSpPr>
        <p:spPr>
          <a:xfrm>
            <a:off x="749808" y="470916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AI insights</a:t>
            </a:r>
            <a:endParaRPr lang="en-US" sz="1450" dirty="0"/>
          </a:p>
        </p:txBody>
      </p:sp>
      <p:sp>
        <p:nvSpPr>
          <p:cNvPr id="28" name="Text 26"/>
          <p:cNvSpPr/>
          <p:nvPr/>
        </p:nvSpPr>
        <p:spPr>
          <a:xfrm>
            <a:off x="749808" y="507492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Plain-language narrative + ask-anything Q&amp;A, grounded in your data</a:t>
            </a:r>
            <a:endParaRPr lang="en-US" sz="1100" dirty="0"/>
          </a:p>
        </p:txBody>
      </p:sp>
      <p:sp>
        <p:nvSpPr>
          <p:cNvPr id="29" name="Shape 27"/>
          <p:cNvSpPr/>
          <p:nvPr/>
        </p:nvSpPr>
        <p:spPr>
          <a:xfrm>
            <a:off x="3383280" y="384048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30" name="Shape 28"/>
          <p:cNvSpPr/>
          <p:nvPr/>
        </p:nvSpPr>
        <p:spPr>
          <a:xfrm>
            <a:off x="3611880" y="4059936"/>
            <a:ext cx="566928" cy="566928"/>
          </a:xfrm>
          <a:prstGeom prst="ellipse">
            <a:avLst/>
          </a:prstGeom>
          <a:solidFill>
            <a:srgbClr val="DC2626"/>
          </a:solidFill>
          <a:ln/>
        </p:spPr>
        <p:txBody>
          <a:bodyPr/>
          <a:lstStyle/>
          <a:p>
            <a:endParaRPr lang="en-US"/>
          </a:p>
        </p:txBody>
      </p:sp>
      <p:sp>
        <p:nvSpPr>
          <p:cNvPr id="31" name="Text 29"/>
          <p:cNvSpPr/>
          <p:nvPr/>
        </p:nvSpPr>
        <p:spPr>
          <a:xfrm>
            <a:off x="3611880" y="405993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32" name="Text 30"/>
          <p:cNvSpPr/>
          <p:nvPr/>
        </p:nvSpPr>
        <p:spPr>
          <a:xfrm>
            <a:off x="3584448" y="470916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Proactive alerts</a:t>
            </a:r>
            <a:endParaRPr lang="en-US" sz="1450" dirty="0"/>
          </a:p>
        </p:txBody>
      </p:sp>
      <p:sp>
        <p:nvSpPr>
          <p:cNvPr id="33" name="Text 31"/>
          <p:cNvSpPr/>
          <p:nvPr/>
        </p:nvSpPr>
        <p:spPr>
          <a:xfrm>
            <a:off x="3584448" y="507492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Threshold + anomaly to email, SMS, WhatsApp, Slack</a:t>
            </a:r>
            <a:endParaRPr lang="en-US" sz="1100" dirty="0"/>
          </a:p>
        </p:txBody>
      </p:sp>
      <p:sp>
        <p:nvSpPr>
          <p:cNvPr id="34" name="Shape 32"/>
          <p:cNvSpPr/>
          <p:nvPr/>
        </p:nvSpPr>
        <p:spPr>
          <a:xfrm>
            <a:off x="6217920" y="384048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35" name="Shape 33"/>
          <p:cNvSpPr/>
          <p:nvPr/>
        </p:nvSpPr>
        <p:spPr>
          <a:xfrm>
            <a:off x="6446520" y="4059936"/>
            <a:ext cx="566928" cy="566928"/>
          </a:xfrm>
          <a:prstGeom prst="ellipse">
            <a:avLst/>
          </a:prstGeom>
          <a:solidFill>
            <a:srgbClr val="0EA5E9"/>
          </a:solidFill>
          <a:ln/>
        </p:spPr>
        <p:txBody>
          <a:bodyPr/>
          <a:lstStyle/>
          <a:p>
            <a:endParaRPr lang="en-US"/>
          </a:p>
        </p:txBody>
      </p:sp>
      <p:sp>
        <p:nvSpPr>
          <p:cNvPr id="36" name="Text 34"/>
          <p:cNvSpPr/>
          <p:nvPr/>
        </p:nvSpPr>
        <p:spPr>
          <a:xfrm>
            <a:off x="6446520" y="405993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37" name="Text 35"/>
          <p:cNvSpPr/>
          <p:nvPr/>
        </p:nvSpPr>
        <p:spPr>
          <a:xfrm>
            <a:off x="6419088" y="470916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Ad hoc playground</a:t>
            </a:r>
            <a:endParaRPr lang="en-US" sz="1450" dirty="0"/>
          </a:p>
        </p:txBody>
      </p:sp>
      <p:sp>
        <p:nvSpPr>
          <p:cNvPr id="38" name="Text 36"/>
          <p:cNvSpPr/>
          <p:nvPr/>
        </p:nvSpPr>
        <p:spPr>
          <a:xfrm>
            <a:off x="6419088" y="507492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Any dataset that fits no domain still gets full analysis</a:t>
            </a:r>
            <a:endParaRPr lang="en-US" sz="1100" dirty="0"/>
          </a:p>
        </p:txBody>
      </p:sp>
      <p:sp>
        <p:nvSpPr>
          <p:cNvPr id="39" name="Shape 37"/>
          <p:cNvSpPr/>
          <p:nvPr/>
        </p:nvSpPr>
        <p:spPr>
          <a:xfrm>
            <a:off x="9052560" y="3840480"/>
            <a:ext cx="2606040" cy="1920240"/>
          </a:xfrm>
          <a:prstGeom prst="roundRect">
            <a:avLst>
              <a:gd name="adj" fmla="val 4286"/>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40" name="Shape 38"/>
          <p:cNvSpPr/>
          <p:nvPr/>
        </p:nvSpPr>
        <p:spPr>
          <a:xfrm>
            <a:off x="9281160" y="4059936"/>
            <a:ext cx="566928" cy="566928"/>
          </a:xfrm>
          <a:prstGeom prst="ellipse">
            <a:avLst/>
          </a:prstGeom>
          <a:solidFill>
            <a:srgbClr val="1E293B"/>
          </a:solidFill>
          <a:ln/>
        </p:spPr>
        <p:txBody>
          <a:bodyPr/>
          <a:lstStyle/>
          <a:p>
            <a:endParaRPr lang="en-US"/>
          </a:p>
        </p:txBody>
      </p:sp>
      <p:sp>
        <p:nvSpPr>
          <p:cNvPr id="41" name="Text 39"/>
          <p:cNvSpPr/>
          <p:nvPr/>
        </p:nvSpPr>
        <p:spPr>
          <a:xfrm>
            <a:off x="9281160" y="4059936"/>
            <a:ext cx="566928" cy="566928"/>
          </a:xfrm>
          <a:prstGeom prst="rect">
            <a:avLst/>
          </a:prstGeom>
          <a:noFill/>
          <a:ln/>
        </p:spPr>
        <p:txBody>
          <a:bodyPr wrap="square" rtlCol="0" anchor="ctr"/>
          <a:lstStyle/>
          <a:p>
            <a:pPr marL="0" indent="0" algn="ctr">
              <a:buNone/>
            </a:pPr>
            <a:r>
              <a:rPr lang="en-US" sz="1364" b="1" dirty="0">
                <a:solidFill>
                  <a:srgbClr val="FFFFFF"/>
                </a:solidFill>
                <a:latin typeface="Calibri" pitchFamily="34" charset="0"/>
                <a:ea typeface="Calibri" pitchFamily="34" charset="-122"/>
                <a:cs typeface="Calibri" pitchFamily="34" charset="-120"/>
              </a:rPr>
              <a:t>●</a:t>
            </a:r>
            <a:endParaRPr lang="en-US" sz="1364" dirty="0"/>
          </a:p>
        </p:txBody>
      </p:sp>
      <p:sp>
        <p:nvSpPr>
          <p:cNvPr id="42" name="Text 40"/>
          <p:cNvSpPr/>
          <p:nvPr/>
        </p:nvSpPr>
        <p:spPr>
          <a:xfrm>
            <a:off x="9253728" y="4709160"/>
            <a:ext cx="2240280" cy="365760"/>
          </a:xfrm>
          <a:prstGeom prst="rect">
            <a:avLst/>
          </a:prstGeom>
          <a:noFill/>
          <a:ln/>
        </p:spPr>
        <p:txBody>
          <a:bodyPr wrap="square" rtlCol="0" anchor="ctr"/>
          <a:lstStyle/>
          <a:p>
            <a:pPr marL="0" indent="0">
              <a:buNone/>
            </a:pPr>
            <a:r>
              <a:rPr lang="en-US" sz="1450" b="1" dirty="0">
                <a:solidFill>
                  <a:srgbClr val="1E293B"/>
                </a:solidFill>
                <a:latin typeface="Calibri" pitchFamily="34" charset="0"/>
                <a:ea typeface="Calibri" pitchFamily="34" charset="-122"/>
                <a:cs typeface="Calibri" pitchFamily="34" charset="-120"/>
              </a:rPr>
              <a:t>Governance &amp; RBAC</a:t>
            </a:r>
            <a:endParaRPr lang="en-US" sz="1450" dirty="0"/>
          </a:p>
        </p:txBody>
      </p:sp>
      <p:sp>
        <p:nvSpPr>
          <p:cNvPr id="43" name="Text 41"/>
          <p:cNvSpPr/>
          <p:nvPr/>
        </p:nvSpPr>
        <p:spPr>
          <a:xfrm>
            <a:off x="9253728" y="5074920"/>
            <a:ext cx="2286000" cy="594360"/>
          </a:xfrm>
          <a:prstGeom prst="rect">
            <a:avLst/>
          </a:prstGeom>
          <a:noFill/>
          <a:ln/>
        </p:spPr>
        <p:txBody>
          <a:bodyPr wrap="square" rtlCol="0" anchor="t"/>
          <a:lstStyle/>
          <a:p>
            <a:pPr marL="0" indent="0">
              <a:lnSpc>
                <a:spcPct val="100000"/>
              </a:lnSpc>
              <a:buNone/>
            </a:pPr>
            <a:r>
              <a:rPr lang="en-US" sz="1100" dirty="0">
                <a:solidFill>
                  <a:srgbClr val="475569"/>
                </a:solidFill>
                <a:latin typeface="Calibri" pitchFamily="34" charset="0"/>
                <a:ea typeface="Calibri" pitchFamily="34" charset="-122"/>
                <a:cs typeface="Calibri" pitchFamily="34" charset="-120"/>
              </a:rPr>
              <a:t>Tenant isolation, role-based access, audit, GDPR/CCPA</a:t>
            </a:r>
            <a:endParaRPr lang="en-US" sz="1100" dirty="0"/>
          </a:p>
        </p:txBody>
      </p:sp>
      <p:sp>
        <p:nvSpPr>
          <p:cNvPr id="44" name="Text 42"/>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6</a:t>
            </a:r>
            <a:endParaRPr lang="en-US" sz="900" dirty="0"/>
          </a:p>
        </p:txBody>
      </p:sp>
      <p:sp>
        <p:nvSpPr>
          <p:cNvPr id="45" name="Text 43"/>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93C5FD"/>
                </a:solidFill>
                <a:latin typeface="Calibri" pitchFamily="34" charset="0"/>
                <a:ea typeface="Calibri" pitchFamily="34" charset="-122"/>
                <a:cs typeface="Calibri" pitchFamily="34" charset="-120"/>
              </a:rPr>
              <a:t>DOMAIN-ADAPTIVE</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same platform, fluent in every business</a:t>
            </a:r>
            <a:endParaRPr lang="en-US" sz="3000" dirty="0"/>
          </a:p>
        </p:txBody>
      </p:sp>
      <p:sp>
        <p:nvSpPr>
          <p:cNvPr id="4" name="Shape 2"/>
          <p:cNvSpPr/>
          <p:nvPr/>
        </p:nvSpPr>
        <p:spPr>
          <a:xfrm>
            <a:off x="548640" y="2194560"/>
            <a:ext cx="2084832" cy="2286000"/>
          </a:xfrm>
          <a:prstGeom prst="roundRect">
            <a:avLst>
              <a:gd name="adj" fmla="val 3947"/>
            </a:avLst>
          </a:prstGeom>
          <a:solidFill>
            <a:srgbClr val="0F172A"/>
          </a:solidFill>
          <a:ln w="12700">
            <a:solidFill>
              <a:srgbClr val="1E7E4B"/>
            </a:solidFill>
            <a:prstDash val="solid"/>
          </a:ln>
        </p:spPr>
        <p:txBody>
          <a:bodyPr/>
          <a:lstStyle/>
          <a:p>
            <a:endParaRPr lang="en-US"/>
          </a:p>
        </p:txBody>
      </p:sp>
      <p:sp>
        <p:nvSpPr>
          <p:cNvPr id="5" name="Text 3"/>
          <p:cNvSpPr/>
          <p:nvPr/>
        </p:nvSpPr>
        <p:spPr>
          <a:xfrm>
            <a:off x="658368" y="2395728"/>
            <a:ext cx="1874520"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Pharmacy</a:t>
            </a:r>
            <a:endParaRPr lang="en-US" sz="1550" dirty="0"/>
          </a:p>
        </p:txBody>
      </p:sp>
      <p:sp>
        <p:nvSpPr>
          <p:cNvPr id="6" name="Shape 4"/>
          <p:cNvSpPr/>
          <p:nvPr/>
        </p:nvSpPr>
        <p:spPr>
          <a:xfrm>
            <a:off x="914400" y="3108960"/>
            <a:ext cx="1371600" cy="0"/>
          </a:xfrm>
          <a:prstGeom prst="line">
            <a:avLst/>
          </a:prstGeom>
          <a:noFill/>
          <a:ln w="19050">
            <a:solidFill>
              <a:srgbClr val="1E7E4B"/>
            </a:solidFill>
            <a:prstDash val="solid"/>
          </a:ln>
        </p:spPr>
        <p:txBody>
          <a:bodyPr/>
          <a:lstStyle/>
          <a:p>
            <a:endParaRPr lang="en-US"/>
          </a:p>
        </p:txBody>
      </p:sp>
      <p:sp>
        <p:nvSpPr>
          <p:cNvPr id="7" name="Text 5"/>
          <p:cNvSpPr/>
          <p:nvPr/>
        </p:nvSpPr>
        <p:spPr>
          <a:xfrm>
            <a:off x="676656" y="3246120"/>
            <a:ext cx="1828800" cy="1097280"/>
          </a:xfrm>
          <a:prstGeom prst="rect">
            <a:avLst/>
          </a:prstGeom>
          <a:noFill/>
          <a:ln/>
        </p:spPr>
        <p:txBody>
          <a:bodyPr wrap="square" rtlCol="0" anchor="t"/>
          <a:lstStyle/>
          <a:p>
            <a:pPr marL="0" indent="0" algn="ctr">
              <a:lnSpc>
                <a:spcPct val="105000"/>
              </a:lnSpc>
              <a:buNone/>
            </a:pPr>
            <a:r>
              <a:rPr lang="en-US" sz="1150" dirty="0">
                <a:solidFill>
                  <a:srgbClr val="CBD5E1"/>
                </a:solidFill>
                <a:latin typeface="Calibri" pitchFamily="34" charset="0"/>
                <a:ea typeface="Calibri" pitchFamily="34" charset="-122"/>
                <a:cs typeface="Calibri" pitchFamily="34" charset="-120"/>
              </a:rPr>
              <a:t>Sales, margin, expiry, GST/tax, stock</a:t>
            </a:r>
            <a:endParaRPr lang="en-US" sz="1150" dirty="0"/>
          </a:p>
        </p:txBody>
      </p:sp>
      <p:sp>
        <p:nvSpPr>
          <p:cNvPr id="8" name="Shape 6"/>
          <p:cNvSpPr/>
          <p:nvPr/>
        </p:nvSpPr>
        <p:spPr>
          <a:xfrm>
            <a:off x="2816352" y="2194560"/>
            <a:ext cx="2084832" cy="2286000"/>
          </a:xfrm>
          <a:prstGeom prst="roundRect">
            <a:avLst>
              <a:gd name="adj" fmla="val 3947"/>
            </a:avLst>
          </a:prstGeom>
          <a:solidFill>
            <a:srgbClr val="0F172A"/>
          </a:solidFill>
          <a:ln w="12700">
            <a:solidFill>
              <a:srgbClr val="2563EB"/>
            </a:solidFill>
            <a:prstDash val="solid"/>
          </a:ln>
        </p:spPr>
        <p:txBody>
          <a:bodyPr/>
          <a:lstStyle/>
          <a:p>
            <a:endParaRPr lang="en-US"/>
          </a:p>
        </p:txBody>
      </p:sp>
      <p:sp>
        <p:nvSpPr>
          <p:cNvPr id="9" name="Text 7"/>
          <p:cNvSpPr/>
          <p:nvPr/>
        </p:nvSpPr>
        <p:spPr>
          <a:xfrm>
            <a:off x="2926080" y="2395728"/>
            <a:ext cx="1874520"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SaaS</a:t>
            </a:r>
            <a:endParaRPr lang="en-US" sz="1550" dirty="0"/>
          </a:p>
        </p:txBody>
      </p:sp>
      <p:sp>
        <p:nvSpPr>
          <p:cNvPr id="10" name="Shape 8"/>
          <p:cNvSpPr/>
          <p:nvPr/>
        </p:nvSpPr>
        <p:spPr>
          <a:xfrm>
            <a:off x="3182112" y="3108960"/>
            <a:ext cx="1371600" cy="0"/>
          </a:xfrm>
          <a:prstGeom prst="line">
            <a:avLst/>
          </a:prstGeom>
          <a:noFill/>
          <a:ln w="19050">
            <a:solidFill>
              <a:srgbClr val="2563EB"/>
            </a:solidFill>
            <a:prstDash val="solid"/>
          </a:ln>
        </p:spPr>
        <p:txBody>
          <a:bodyPr/>
          <a:lstStyle/>
          <a:p>
            <a:endParaRPr lang="en-US"/>
          </a:p>
        </p:txBody>
      </p:sp>
      <p:sp>
        <p:nvSpPr>
          <p:cNvPr id="11" name="Text 9"/>
          <p:cNvSpPr/>
          <p:nvPr/>
        </p:nvSpPr>
        <p:spPr>
          <a:xfrm>
            <a:off x="2944368" y="3246120"/>
            <a:ext cx="1828800" cy="1097280"/>
          </a:xfrm>
          <a:prstGeom prst="rect">
            <a:avLst/>
          </a:prstGeom>
          <a:noFill/>
          <a:ln/>
        </p:spPr>
        <p:txBody>
          <a:bodyPr wrap="square" rtlCol="0" anchor="t"/>
          <a:lstStyle/>
          <a:p>
            <a:pPr marL="0" indent="0" algn="ctr">
              <a:lnSpc>
                <a:spcPct val="105000"/>
              </a:lnSpc>
              <a:buNone/>
            </a:pPr>
            <a:r>
              <a:rPr lang="en-US" sz="1150" dirty="0">
                <a:solidFill>
                  <a:srgbClr val="CBD5E1"/>
                </a:solidFill>
                <a:latin typeface="Calibri" pitchFamily="34" charset="0"/>
                <a:ea typeface="Calibri" pitchFamily="34" charset="-122"/>
                <a:cs typeface="Calibri" pitchFamily="34" charset="-120"/>
              </a:rPr>
              <a:t>MRR, ARR, churn, customers</a:t>
            </a:r>
            <a:endParaRPr lang="en-US" sz="1150" dirty="0"/>
          </a:p>
        </p:txBody>
      </p:sp>
      <p:sp>
        <p:nvSpPr>
          <p:cNvPr id="12" name="Shape 10"/>
          <p:cNvSpPr/>
          <p:nvPr/>
        </p:nvSpPr>
        <p:spPr>
          <a:xfrm>
            <a:off x="5084064" y="2194560"/>
            <a:ext cx="2084832" cy="2286000"/>
          </a:xfrm>
          <a:prstGeom prst="roundRect">
            <a:avLst>
              <a:gd name="adj" fmla="val 3947"/>
            </a:avLst>
          </a:prstGeom>
          <a:solidFill>
            <a:srgbClr val="0F172A"/>
          </a:solidFill>
          <a:ln w="12700">
            <a:solidFill>
              <a:srgbClr val="D97706"/>
            </a:solidFill>
            <a:prstDash val="solid"/>
          </a:ln>
        </p:spPr>
        <p:txBody>
          <a:bodyPr/>
          <a:lstStyle/>
          <a:p>
            <a:endParaRPr lang="en-US"/>
          </a:p>
        </p:txBody>
      </p:sp>
      <p:sp>
        <p:nvSpPr>
          <p:cNvPr id="13" name="Text 11"/>
          <p:cNvSpPr/>
          <p:nvPr/>
        </p:nvSpPr>
        <p:spPr>
          <a:xfrm>
            <a:off x="5193792" y="2395728"/>
            <a:ext cx="1874520"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Retail / E-comm</a:t>
            </a:r>
            <a:endParaRPr lang="en-US" sz="1550" dirty="0"/>
          </a:p>
        </p:txBody>
      </p:sp>
      <p:sp>
        <p:nvSpPr>
          <p:cNvPr id="14" name="Shape 12"/>
          <p:cNvSpPr/>
          <p:nvPr/>
        </p:nvSpPr>
        <p:spPr>
          <a:xfrm>
            <a:off x="5449824" y="3108960"/>
            <a:ext cx="1371600" cy="0"/>
          </a:xfrm>
          <a:prstGeom prst="line">
            <a:avLst/>
          </a:prstGeom>
          <a:noFill/>
          <a:ln w="19050">
            <a:solidFill>
              <a:srgbClr val="D97706"/>
            </a:solidFill>
            <a:prstDash val="solid"/>
          </a:ln>
        </p:spPr>
        <p:txBody>
          <a:bodyPr/>
          <a:lstStyle/>
          <a:p>
            <a:endParaRPr lang="en-US"/>
          </a:p>
        </p:txBody>
      </p:sp>
      <p:sp>
        <p:nvSpPr>
          <p:cNvPr id="15" name="Text 13"/>
          <p:cNvSpPr/>
          <p:nvPr/>
        </p:nvSpPr>
        <p:spPr>
          <a:xfrm>
            <a:off x="5212080" y="3246120"/>
            <a:ext cx="1828800" cy="1097280"/>
          </a:xfrm>
          <a:prstGeom prst="rect">
            <a:avLst/>
          </a:prstGeom>
          <a:noFill/>
          <a:ln/>
        </p:spPr>
        <p:txBody>
          <a:bodyPr wrap="square" rtlCol="0" anchor="t"/>
          <a:lstStyle/>
          <a:p>
            <a:pPr marL="0" indent="0" algn="ctr">
              <a:lnSpc>
                <a:spcPct val="105000"/>
              </a:lnSpc>
              <a:buNone/>
            </a:pPr>
            <a:r>
              <a:rPr lang="en-US" sz="1150" dirty="0">
                <a:solidFill>
                  <a:srgbClr val="CBD5E1"/>
                </a:solidFill>
                <a:latin typeface="Calibri" pitchFamily="34" charset="0"/>
                <a:ea typeface="Calibri" pitchFamily="34" charset="-122"/>
                <a:cs typeface="Calibri" pitchFamily="34" charset="-120"/>
              </a:rPr>
              <a:t>Orders, AOV, inventory, returns</a:t>
            </a:r>
            <a:endParaRPr lang="en-US" sz="1150" dirty="0"/>
          </a:p>
        </p:txBody>
      </p:sp>
      <p:sp>
        <p:nvSpPr>
          <p:cNvPr id="16" name="Shape 14"/>
          <p:cNvSpPr/>
          <p:nvPr/>
        </p:nvSpPr>
        <p:spPr>
          <a:xfrm>
            <a:off x="7351776" y="2194560"/>
            <a:ext cx="2084832" cy="2286000"/>
          </a:xfrm>
          <a:prstGeom prst="roundRect">
            <a:avLst>
              <a:gd name="adj" fmla="val 3947"/>
            </a:avLst>
          </a:prstGeom>
          <a:solidFill>
            <a:srgbClr val="0F172A"/>
          </a:solidFill>
          <a:ln w="12700">
            <a:solidFill>
              <a:srgbClr val="7C3AED"/>
            </a:solidFill>
            <a:prstDash val="solid"/>
          </a:ln>
        </p:spPr>
        <p:txBody>
          <a:bodyPr/>
          <a:lstStyle/>
          <a:p>
            <a:endParaRPr lang="en-US"/>
          </a:p>
        </p:txBody>
      </p:sp>
      <p:sp>
        <p:nvSpPr>
          <p:cNvPr id="17" name="Text 15"/>
          <p:cNvSpPr/>
          <p:nvPr/>
        </p:nvSpPr>
        <p:spPr>
          <a:xfrm>
            <a:off x="7461504" y="2395728"/>
            <a:ext cx="1874520"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Accounting</a:t>
            </a:r>
            <a:endParaRPr lang="en-US" sz="1550" dirty="0"/>
          </a:p>
        </p:txBody>
      </p:sp>
      <p:sp>
        <p:nvSpPr>
          <p:cNvPr id="18" name="Shape 16"/>
          <p:cNvSpPr/>
          <p:nvPr/>
        </p:nvSpPr>
        <p:spPr>
          <a:xfrm>
            <a:off x="7717536" y="3108960"/>
            <a:ext cx="1371600" cy="0"/>
          </a:xfrm>
          <a:prstGeom prst="line">
            <a:avLst/>
          </a:prstGeom>
          <a:noFill/>
          <a:ln w="19050">
            <a:solidFill>
              <a:srgbClr val="7C3AED"/>
            </a:solidFill>
            <a:prstDash val="solid"/>
          </a:ln>
        </p:spPr>
        <p:txBody>
          <a:bodyPr/>
          <a:lstStyle/>
          <a:p>
            <a:endParaRPr lang="en-US"/>
          </a:p>
        </p:txBody>
      </p:sp>
      <p:sp>
        <p:nvSpPr>
          <p:cNvPr id="19" name="Text 17"/>
          <p:cNvSpPr/>
          <p:nvPr/>
        </p:nvSpPr>
        <p:spPr>
          <a:xfrm>
            <a:off x="7479792" y="3246120"/>
            <a:ext cx="1828800" cy="1097280"/>
          </a:xfrm>
          <a:prstGeom prst="rect">
            <a:avLst/>
          </a:prstGeom>
          <a:noFill/>
          <a:ln/>
        </p:spPr>
        <p:txBody>
          <a:bodyPr wrap="square" rtlCol="0" anchor="t"/>
          <a:lstStyle/>
          <a:p>
            <a:pPr marL="0" indent="0" algn="ctr">
              <a:lnSpc>
                <a:spcPct val="105000"/>
              </a:lnSpc>
              <a:buNone/>
            </a:pPr>
            <a:r>
              <a:rPr lang="en-US" sz="1150" dirty="0">
                <a:solidFill>
                  <a:srgbClr val="CBD5E1"/>
                </a:solidFill>
                <a:latin typeface="Calibri" pitchFamily="34" charset="0"/>
                <a:ea typeface="Calibri" pitchFamily="34" charset="-122"/>
                <a:cs typeface="Calibri" pitchFamily="34" charset="-120"/>
              </a:rPr>
              <a:t>P&amp;L, cash flow, expenses</a:t>
            </a:r>
            <a:endParaRPr lang="en-US" sz="1150" dirty="0"/>
          </a:p>
        </p:txBody>
      </p:sp>
      <p:sp>
        <p:nvSpPr>
          <p:cNvPr id="20" name="Shape 18"/>
          <p:cNvSpPr/>
          <p:nvPr/>
        </p:nvSpPr>
        <p:spPr>
          <a:xfrm>
            <a:off x="9619488" y="2194560"/>
            <a:ext cx="2084832" cy="2286000"/>
          </a:xfrm>
          <a:prstGeom prst="roundRect">
            <a:avLst>
              <a:gd name="adj" fmla="val 3947"/>
            </a:avLst>
          </a:prstGeom>
          <a:solidFill>
            <a:srgbClr val="0F172A"/>
          </a:solidFill>
          <a:ln w="12700">
            <a:solidFill>
              <a:srgbClr val="0EA5E9"/>
            </a:solidFill>
            <a:prstDash val="solid"/>
          </a:ln>
        </p:spPr>
        <p:txBody>
          <a:bodyPr/>
          <a:lstStyle/>
          <a:p>
            <a:endParaRPr lang="en-US"/>
          </a:p>
        </p:txBody>
      </p:sp>
      <p:sp>
        <p:nvSpPr>
          <p:cNvPr id="21" name="Text 19"/>
          <p:cNvSpPr/>
          <p:nvPr/>
        </p:nvSpPr>
        <p:spPr>
          <a:xfrm>
            <a:off x="9729216" y="2395728"/>
            <a:ext cx="1874520"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Generic / Ad hoc</a:t>
            </a:r>
            <a:endParaRPr lang="en-US" sz="1550" dirty="0"/>
          </a:p>
        </p:txBody>
      </p:sp>
      <p:sp>
        <p:nvSpPr>
          <p:cNvPr id="22" name="Shape 20"/>
          <p:cNvSpPr/>
          <p:nvPr/>
        </p:nvSpPr>
        <p:spPr>
          <a:xfrm>
            <a:off x="9985248" y="3108960"/>
            <a:ext cx="1371600" cy="0"/>
          </a:xfrm>
          <a:prstGeom prst="line">
            <a:avLst/>
          </a:prstGeom>
          <a:noFill/>
          <a:ln w="19050">
            <a:solidFill>
              <a:srgbClr val="0EA5E9"/>
            </a:solidFill>
            <a:prstDash val="solid"/>
          </a:ln>
        </p:spPr>
        <p:txBody>
          <a:bodyPr/>
          <a:lstStyle/>
          <a:p>
            <a:endParaRPr lang="en-US"/>
          </a:p>
        </p:txBody>
      </p:sp>
      <p:sp>
        <p:nvSpPr>
          <p:cNvPr id="23" name="Text 21"/>
          <p:cNvSpPr/>
          <p:nvPr/>
        </p:nvSpPr>
        <p:spPr>
          <a:xfrm>
            <a:off x="9747504" y="3246120"/>
            <a:ext cx="1828800" cy="1097280"/>
          </a:xfrm>
          <a:prstGeom prst="rect">
            <a:avLst/>
          </a:prstGeom>
          <a:noFill/>
          <a:ln/>
        </p:spPr>
        <p:txBody>
          <a:bodyPr wrap="square" rtlCol="0" anchor="t"/>
          <a:lstStyle/>
          <a:p>
            <a:pPr marL="0" indent="0" algn="ctr">
              <a:lnSpc>
                <a:spcPct val="105000"/>
              </a:lnSpc>
              <a:buNone/>
            </a:pPr>
            <a:r>
              <a:rPr lang="en-US" sz="1150" dirty="0">
                <a:solidFill>
                  <a:srgbClr val="CBD5E1"/>
                </a:solidFill>
                <a:latin typeface="Calibri" pitchFamily="34" charset="0"/>
                <a:ea typeface="Calibri" pitchFamily="34" charset="-122"/>
                <a:cs typeface="Calibri" pitchFamily="34" charset="-120"/>
              </a:rPr>
              <a:t>Revenue, cost, margin, any table</a:t>
            </a:r>
            <a:endParaRPr lang="en-US" sz="1150" dirty="0"/>
          </a:p>
        </p:txBody>
      </p:sp>
      <p:sp>
        <p:nvSpPr>
          <p:cNvPr id="24" name="Shape 22"/>
          <p:cNvSpPr/>
          <p:nvPr/>
        </p:nvSpPr>
        <p:spPr>
          <a:xfrm>
            <a:off x="548640" y="4892040"/>
            <a:ext cx="11109960" cy="1051560"/>
          </a:xfrm>
          <a:prstGeom prst="roundRect">
            <a:avLst>
              <a:gd name="adj" fmla="val 7826"/>
            </a:avLst>
          </a:prstGeom>
          <a:solidFill>
            <a:srgbClr val="0F172A"/>
          </a:solidFill>
          <a:ln w="12700">
            <a:solidFill>
              <a:srgbClr val="0D9488"/>
            </a:solidFill>
            <a:prstDash val="solid"/>
          </a:ln>
        </p:spPr>
        <p:txBody>
          <a:bodyPr/>
          <a:lstStyle/>
          <a:p>
            <a:endParaRPr lang="en-US"/>
          </a:p>
        </p:txBody>
      </p:sp>
      <p:sp>
        <p:nvSpPr>
          <p:cNvPr id="25" name="Text 23"/>
          <p:cNvSpPr/>
          <p:nvPr/>
        </p:nvSpPr>
        <p:spPr>
          <a:xfrm>
            <a:off x="777240" y="5029200"/>
            <a:ext cx="10607040" cy="777240"/>
          </a:xfrm>
          <a:prstGeom prst="rect">
            <a:avLst/>
          </a:prstGeom>
          <a:noFill/>
          <a:ln/>
        </p:spPr>
        <p:txBody>
          <a:bodyPr wrap="square" rtlCol="0" anchor="ctr"/>
          <a:lstStyle/>
          <a:p>
            <a:pPr marL="0" indent="0">
              <a:lnSpc>
                <a:spcPct val="110000"/>
              </a:lnSpc>
              <a:buNone/>
            </a:pPr>
            <a:r>
              <a:rPr lang="en-US" sz="1400" b="1" dirty="0">
                <a:solidFill>
                  <a:srgbClr val="5EEAD4"/>
                </a:solidFill>
                <a:latin typeface="Calibri" pitchFamily="34" charset="0"/>
                <a:ea typeface="Calibri" pitchFamily="34" charset="-122"/>
                <a:cs typeface="Calibri" pitchFamily="34" charset="-120"/>
              </a:rPr>
              <a:t>Auto-detection today, expandable tomorrow.  </a:t>
            </a:r>
            <a:r>
              <a:rPr lang="en-US" sz="1350" dirty="0">
                <a:solidFill>
                  <a:srgbClr val="CBD5E1"/>
                </a:solidFill>
                <a:latin typeface="Calibri" pitchFamily="34" charset="0"/>
                <a:ea typeface="Calibri" pitchFamily="34" charset="-122"/>
                <a:cs typeface="Calibri" pitchFamily="34" charset="-120"/>
              </a:rPr>
              <a:t>When many customers upload the same new shape, we codify it as a first-class domain — the ad hoc playground is also our domain-discovery funnel.</a:t>
            </a:r>
            <a:endParaRPr lang="en-US" sz="1400" dirty="0"/>
          </a:p>
        </p:txBody>
      </p:sp>
      <p:sp>
        <p:nvSpPr>
          <p:cNvPr id="26" name="Text 24"/>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7</a:t>
            </a:r>
            <a:endParaRPr lang="en-US" sz="900" dirty="0"/>
          </a:p>
        </p:txBody>
      </p:sp>
      <p:sp>
        <p:nvSpPr>
          <p:cNvPr id="27" name="Text 25"/>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2563EB"/>
                </a:solidFill>
                <a:latin typeface="Calibri" pitchFamily="34" charset="0"/>
                <a:ea typeface="Calibri" pitchFamily="34" charset="-122"/>
                <a:cs typeface="Calibri" pitchFamily="34" charset="-120"/>
              </a:rPr>
              <a:t>COMPETITIVE LANDSCAPE</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Where we win</a:t>
            </a:r>
            <a:endParaRPr lang="en-US" sz="3200" dirty="0"/>
          </a:p>
        </p:txBody>
      </p:sp>
      <p:sp>
        <p:nvSpPr>
          <p:cNvPr id="4" name="Shape 2"/>
          <p:cNvSpPr/>
          <p:nvPr/>
        </p:nvSpPr>
        <p:spPr>
          <a:xfrm>
            <a:off x="548640" y="1600200"/>
            <a:ext cx="2743200" cy="457200"/>
          </a:xfrm>
          <a:prstGeom prst="rect">
            <a:avLst/>
          </a:prstGeom>
          <a:solidFill>
            <a:srgbClr val="1E293B"/>
          </a:solidFill>
          <a:ln w="12700">
            <a:solidFill>
              <a:srgbClr val="FFFFFF"/>
            </a:solidFill>
            <a:prstDash val="solid"/>
          </a:ln>
        </p:spPr>
        <p:txBody>
          <a:bodyPr/>
          <a:lstStyle/>
          <a:p>
            <a:endParaRPr lang="en-US"/>
          </a:p>
        </p:txBody>
      </p:sp>
      <p:sp>
        <p:nvSpPr>
          <p:cNvPr id="5" name="Text 3"/>
          <p:cNvSpPr/>
          <p:nvPr/>
        </p:nvSpPr>
        <p:spPr>
          <a:xfrm>
            <a:off x="621792" y="1600200"/>
            <a:ext cx="2596896" cy="457200"/>
          </a:xfrm>
          <a:prstGeom prst="rect">
            <a:avLst/>
          </a:prstGeom>
          <a:noFill/>
          <a:ln/>
        </p:spPr>
        <p:txBody>
          <a:bodyPr wrap="square" rtlCol="0" anchor="ctr"/>
          <a:lstStyle/>
          <a:p>
            <a:pPr marL="0" indent="0" algn="l">
              <a:buNone/>
            </a:pPr>
            <a:endParaRPr lang="en-US" sz="1150" dirty="0"/>
          </a:p>
        </p:txBody>
      </p:sp>
      <p:sp>
        <p:nvSpPr>
          <p:cNvPr id="6" name="Shape 4"/>
          <p:cNvSpPr/>
          <p:nvPr/>
        </p:nvSpPr>
        <p:spPr>
          <a:xfrm>
            <a:off x="3291840" y="1600200"/>
            <a:ext cx="2148840" cy="457200"/>
          </a:xfrm>
          <a:prstGeom prst="rect">
            <a:avLst/>
          </a:prstGeom>
          <a:solidFill>
            <a:srgbClr val="1E293B"/>
          </a:solidFill>
          <a:ln w="12700">
            <a:solidFill>
              <a:srgbClr val="FFFFFF"/>
            </a:solidFill>
            <a:prstDash val="solid"/>
          </a:ln>
        </p:spPr>
        <p:txBody>
          <a:bodyPr/>
          <a:lstStyle/>
          <a:p>
            <a:endParaRPr lang="en-US"/>
          </a:p>
        </p:txBody>
      </p:sp>
      <p:sp>
        <p:nvSpPr>
          <p:cNvPr id="7" name="Text 5"/>
          <p:cNvSpPr/>
          <p:nvPr/>
        </p:nvSpPr>
        <p:spPr>
          <a:xfrm>
            <a:off x="3364992" y="1600200"/>
            <a:ext cx="2002536"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Power BI / Tableau</a:t>
            </a:r>
            <a:endParaRPr lang="en-US" sz="1150" dirty="0"/>
          </a:p>
        </p:txBody>
      </p:sp>
      <p:sp>
        <p:nvSpPr>
          <p:cNvPr id="8" name="Shape 6"/>
          <p:cNvSpPr/>
          <p:nvPr/>
        </p:nvSpPr>
        <p:spPr>
          <a:xfrm>
            <a:off x="5440680" y="1600200"/>
            <a:ext cx="2148840" cy="457200"/>
          </a:xfrm>
          <a:prstGeom prst="rect">
            <a:avLst/>
          </a:prstGeom>
          <a:solidFill>
            <a:srgbClr val="1E293B"/>
          </a:solidFill>
          <a:ln w="12700">
            <a:solidFill>
              <a:srgbClr val="FFFFFF"/>
            </a:solidFill>
            <a:prstDash val="solid"/>
          </a:ln>
        </p:spPr>
        <p:txBody>
          <a:bodyPr/>
          <a:lstStyle/>
          <a:p>
            <a:endParaRPr lang="en-US"/>
          </a:p>
        </p:txBody>
      </p:sp>
      <p:sp>
        <p:nvSpPr>
          <p:cNvPr id="9" name="Text 7"/>
          <p:cNvSpPr/>
          <p:nvPr/>
        </p:nvSpPr>
        <p:spPr>
          <a:xfrm>
            <a:off x="5513832" y="1600200"/>
            <a:ext cx="2002536"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Zoho / Supaboard</a:t>
            </a:r>
            <a:endParaRPr lang="en-US" sz="1150" dirty="0"/>
          </a:p>
        </p:txBody>
      </p:sp>
      <p:sp>
        <p:nvSpPr>
          <p:cNvPr id="10" name="Shape 8"/>
          <p:cNvSpPr/>
          <p:nvPr/>
        </p:nvSpPr>
        <p:spPr>
          <a:xfrm>
            <a:off x="7589520" y="1600200"/>
            <a:ext cx="2148840" cy="457200"/>
          </a:xfrm>
          <a:prstGeom prst="rect">
            <a:avLst/>
          </a:prstGeom>
          <a:solidFill>
            <a:srgbClr val="1E293B"/>
          </a:solidFill>
          <a:ln w="12700">
            <a:solidFill>
              <a:srgbClr val="FFFFFF"/>
            </a:solidFill>
            <a:prstDash val="solid"/>
          </a:ln>
        </p:spPr>
        <p:txBody>
          <a:bodyPr/>
          <a:lstStyle/>
          <a:p>
            <a:endParaRPr lang="en-US"/>
          </a:p>
        </p:txBody>
      </p:sp>
      <p:sp>
        <p:nvSpPr>
          <p:cNvPr id="11" name="Text 9"/>
          <p:cNvSpPr/>
          <p:nvPr/>
        </p:nvSpPr>
        <p:spPr>
          <a:xfrm>
            <a:off x="7662672" y="1600200"/>
            <a:ext cx="2002536"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ChatGPT / Julius</a:t>
            </a:r>
            <a:endParaRPr lang="en-US" sz="1150" dirty="0"/>
          </a:p>
        </p:txBody>
      </p:sp>
      <p:sp>
        <p:nvSpPr>
          <p:cNvPr id="12" name="Shape 10"/>
          <p:cNvSpPr/>
          <p:nvPr/>
        </p:nvSpPr>
        <p:spPr>
          <a:xfrm>
            <a:off x="9738360" y="1600200"/>
            <a:ext cx="2084832" cy="457200"/>
          </a:xfrm>
          <a:prstGeom prst="rect">
            <a:avLst/>
          </a:prstGeom>
          <a:solidFill>
            <a:srgbClr val="0D9488"/>
          </a:solidFill>
          <a:ln w="12700">
            <a:solidFill>
              <a:srgbClr val="FFFFFF"/>
            </a:solidFill>
            <a:prstDash val="solid"/>
          </a:ln>
        </p:spPr>
        <p:txBody>
          <a:bodyPr/>
          <a:lstStyle/>
          <a:p>
            <a:endParaRPr lang="en-US"/>
          </a:p>
        </p:txBody>
      </p:sp>
      <p:sp>
        <p:nvSpPr>
          <p:cNvPr id="13" name="Text 11"/>
          <p:cNvSpPr/>
          <p:nvPr/>
        </p:nvSpPr>
        <p:spPr>
          <a:xfrm>
            <a:off x="9811512" y="1600200"/>
            <a:ext cx="1938528"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InsightHub</a:t>
            </a:r>
            <a:endParaRPr lang="en-US" sz="1150" dirty="0"/>
          </a:p>
        </p:txBody>
      </p:sp>
      <p:sp>
        <p:nvSpPr>
          <p:cNvPr id="14" name="Shape 12"/>
          <p:cNvSpPr/>
          <p:nvPr/>
        </p:nvSpPr>
        <p:spPr>
          <a:xfrm>
            <a:off x="548640" y="2057400"/>
            <a:ext cx="2743200" cy="534924"/>
          </a:xfrm>
          <a:prstGeom prst="rect">
            <a:avLst/>
          </a:prstGeom>
          <a:solidFill>
            <a:srgbClr val="FFFFFF"/>
          </a:solidFill>
          <a:ln w="6350">
            <a:solidFill>
              <a:srgbClr val="E2E8F0"/>
            </a:solidFill>
            <a:prstDash val="solid"/>
          </a:ln>
        </p:spPr>
        <p:txBody>
          <a:bodyPr/>
          <a:lstStyle/>
          <a:p>
            <a:endParaRPr lang="en-US"/>
          </a:p>
        </p:txBody>
      </p:sp>
      <p:sp>
        <p:nvSpPr>
          <p:cNvPr id="15" name="Text 13"/>
          <p:cNvSpPr/>
          <p:nvPr/>
        </p:nvSpPr>
        <p:spPr>
          <a:xfrm>
            <a:off x="621792" y="2057400"/>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Zero-setup pipeline</a:t>
            </a:r>
            <a:endParaRPr lang="en-US" sz="1150" dirty="0"/>
          </a:p>
        </p:txBody>
      </p:sp>
      <p:sp>
        <p:nvSpPr>
          <p:cNvPr id="16" name="Shape 14"/>
          <p:cNvSpPr/>
          <p:nvPr/>
        </p:nvSpPr>
        <p:spPr>
          <a:xfrm>
            <a:off x="3291840" y="2057400"/>
            <a:ext cx="2148840" cy="534924"/>
          </a:xfrm>
          <a:prstGeom prst="rect">
            <a:avLst/>
          </a:prstGeom>
          <a:solidFill>
            <a:srgbClr val="FFFFFF"/>
          </a:solidFill>
          <a:ln w="6350">
            <a:solidFill>
              <a:srgbClr val="E2E8F0"/>
            </a:solidFill>
            <a:prstDash val="solid"/>
          </a:ln>
        </p:spPr>
        <p:txBody>
          <a:bodyPr/>
          <a:lstStyle/>
          <a:p>
            <a:endParaRPr lang="en-US"/>
          </a:p>
        </p:txBody>
      </p:sp>
      <p:sp>
        <p:nvSpPr>
          <p:cNvPr id="17" name="Text 15"/>
          <p:cNvSpPr/>
          <p:nvPr/>
        </p:nvSpPr>
        <p:spPr>
          <a:xfrm>
            <a:off x="3364992" y="2057400"/>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18" name="Shape 16"/>
          <p:cNvSpPr/>
          <p:nvPr/>
        </p:nvSpPr>
        <p:spPr>
          <a:xfrm>
            <a:off x="5440680" y="2057400"/>
            <a:ext cx="2148840" cy="534924"/>
          </a:xfrm>
          <a:prstGeom prst="rect">
            <a:avLst/>
          </a:prstGeom>
          <a:solidFill>
            <a:srgbClr val="FFFFFF"/>
          </a:solidFill>
          <a:ln w="6350">
            <a:solidFill>
              <a:srgbClr val="E2E8F0"/>
            </a:solidFill>
            <a:prstDash val="solid"/>
          </a:ln>
        </p:spPr>
        <p:txBody>
          <a:bodyPr/>
          <a:lstStyle/>
          <a:p>
            <a:endParaRPr lang="en-US"/>
          </a:p>
        </p:txBody>
      </p:sp>
      <p:sp>
        <p:nvSpPr>
          <p:cNvPr id="19" name="Text 17"/>
          <p:cNvSpPr/>
          <p:nvPr/>
        </p:nvSpPr>
        <p:spPr>
          <a:xfrm>
            <a:off x="5513832" y="2057400"/>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Partial</a:t>
            </a:r>
            <a:endParaRPr lang="en-US" sz="1100" dirty="0"/>
          </a:p>
        </p:txBody>
      </p:sp>
      <p:sp>
        <p:nvSpPr>
          <p:cNvPr id="20" name="Shape 18"/>
          <p:cNvSpPr/>
          <p:nvPr/>
        </p:nvSpPr>
        <p:spPr>
          <a:xfrm>
            <a:off x="7589520" y="2057400"/>
            <a:ext cx="2148840" cy="534924"/>
          </a:xfrm>
          <a:prstGeom prst="rect">
            <a:avLst/>
          </a:prstGeom>
          <a:solidFill>
            <a:srgbClr val="FFFFFF"/>
          </a:solidFill>
          <a:ln w="6350">
            <a:solidFill>
              <a:srgbClr val="E2E8F0"/>
            </a:solidFill>
            <a:prstDash val="solid"/>
          </a:ln>
        </p:spPr>
        <p:txBody>
          <a:bodyPr/>
          <a:lstStyle/>
          <a:p>
            <a:endParaRPr lang="en-US"/>
          </a:p>
        </p:txBody>
      </p:sp>
      <p:sp>
        <p:nvSpPr>
          <p:cNvPr id="21" name="Text 19"/>
          <p:cNvSpPr/>
          <p:nvPr/>
        </p:nvSpPr>
        <p:spPr>
          <a:xfrm>
            <a:off x="7662672" y="2057400"/>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N/A</a:t>
            </a:r>
            <a:endParaRPr lang="en-US" sz="1100" dirty="0"/>
          </a:p>
        </p:txBody>
      </p:sp>
      <p:sp>
        <p:nvSpPr>
          <p:cNvPr id="22" name="Shape 20"/>
          <p:cNvSpPr/>
          <p:nvPr/>
        </p:nvSpPr>
        <p:spPr>
          <a:xfrm>
            <a:off x="9738360" y="2057400"/>
            <a:ext cx="2084832" cy="534924"/>
          </a:xfrm>
          <a:prstGeom prst="rect">
            <a:avLst/>
          </a:prstGeom>
          <a:solidFill>
            <a:srgbClr val="E6FBF7"/>
          </a:solidFill>
          <a:ln w="6350">
            <a:solidFill>
              <a:srgbClr val="E2E8F0"/>
            </a:solidFill>
            <a:prstDash val="solid"/>
          </a:ln>
        </p:spPr>
        <p:txBody>
          <a:bodyPr/>
          <a:lstStyle/>
          <a:p>
            <a:endParaRPr lang="en-US"/>
          </a:p>
        </p:txBody>
      </p:sp>
      <p:sp>
        <p:nvSpPr>
          <p:cNvPr id="23" name="Text 21"/>
          <p:cNvSpPr/>
          <p:nvPr/>
        </p:nvSpPr>
        <p:spPr>
          <a:xfrm>
            <a:off x="9811512" y="2057400"/>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Yes</a:t>
            </a:r>
            <a:endParaRPr lang="en-US" sz="1100" dirty="0"/>
          </a:p>
        </p:txBody>
      </p:sp>
      <p:sp>
        <p:nvSpPr>
          <p:cNvPr id="24" name="Shape 22"/>
          <p:cNvSpPr/>
          <p:nvPr/>
        </p:nvSpPr>
        <p:spPr>
          <a:xfrm>
            <a:off x="548640" y="2592324"/>
            <a:ext cx="2743200" cy="534924"/>
          </a:xfrm>
          <a:prstGeom prst="rect">
            <a:avLst/>
          </a:prstGeom>
          <a:solidFill>
            <a:srgbClr val="F1F5F9"/>
          </a:solidFill>
          <a:ln w="6350">
            <a:solidFill>
              <a:srgbClr val="E2E8F0"/>
            </a:solidFill>
            <a:prstDash val="solid"/>
          </a:ln>
        </p:spPr>
        <p:txBody>
          <a:bodyPr/>
          <a:lstStyle/>
          <a:p>
            <a:endParaRPr lang="en-US"/>
          </a:p>
        </p:txBody>
      </p:sp>
      <p:sp>
        <p:nvSpPr>
          <p:cNvPr id="25" name="Text 23"/>
          <p:cNvSpPr/>
          <p:nvPr/>
        </p:nvSpPr>
        <p:spPr>
          <a:xfrm>
            <a:off x="621792" y="2592324"/>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Persistent history</a:t>
            </a:r>
            <a:endParaRPr lang="en-US" sz="1150" dirty="0"/>
          </a:p>
        </p:txBody>
      </p:sp>
      <p:sp>
        <p:nvSpPr>
          <p:cNvPr id="26" name="Shape 24"/>
          <p:cNvSpPr/>
          <p:nvPr/>
        </p:nvSpPr>
        <p:spPr>
          <a:xfrm>
            <a:off x="3291840" y="2592324"/>
            <a:ext cx="2148840" cy="534924"/>
          </a:xfrm>
          <a:prstGeom prst="rect">
            <a:avLst/>
          </a:prstGeom>
          <a:solidFill>
            <a:srgbClr val="F1F5F9"/>
          </a:solidFill>
          <a:ln w="6350">
            <a:solidFill>
              <a:srgbClr val="E2E8F0"/>
            </a:solidFill>
            <a:prstDash val="solid"/>
          </a:ln>
        </p:spPr>
        <p:txBody>
          <a:bodyPr/>
          <a:lstStyle/>
          <a:p>
            <a:endParaRPr lang="en-US"/>
          </a:p>
        </p:txBody>
      </p:sp>
      <p:sp>
        <p:nvSpPr>
          <p:cNvPr id="27" name="Text 25"/>
          <p:cNvSpPr/>
          <p:nvPr/>
        </p:nvSpPr>
        <p:spPr>
          <a:xfrm>
            <a:off x="3364992" y="2592324"/>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Yes*</a:t>
            </a:r>
            <a:endParaRPr lang="en-US" sz="1100" dirty="0"/>
          </a:p>
        </p:txBody>
      </p:sp>
      <p:sp>
        <p:nvSpPr>
          <p:cNvPr id="28" name="Shape 26"/>
          <p:cNvSpPr/>
          <p:nvPr/>
        </p:nvSpPr>
        <p:spPr>
          <a:xfrm>
            <a:off x="5440680" y="2592324"/>
            <a:ext cx="2148840" cy="534924"/>
          </a:xfrm>
          <a:prstGeom prst="rect">
            <a:avLst/>
          </a:prstGeom>
          <a:solidFill>
            <a:srgbClr val="F1F5F9"/>
          </a:solidFill>
          <a:ln w="6350">
            <a:solidFill>
              <a:srgbClr val="E2E8F0"/>
            </a:solidFill>
            <a:prstDash val="solid"/>
          </a:ln>
        </p:spPr>
        <p:txBody>
          <a:bodyPr/>
          <a:lstStyle/>
          <a:p>
            <a:endParaRPr lang="en-US"/>
          </a:p>
        </p:txBody>
      </p:sp>
      <p:sp>
        <p:nvSpPr>
          <p:cNvPr id="29" name="Text 27"/>
          <p:cNvSpPr/>
          <p:nvPr/>
        </p:nvSpPr>
        <p:spPr>
          <a:xfrm>
            <a:off x="5513832" y="2592324"/>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Yes</a:t>
            </a:r>
            <a:endParaRPr lang="en-US" sz="1100" dirty="0"/>
          </a:p>
        </p:txBody>
      </p:sp>
      <p:sp>
        <p:nvSpPr>
          <p:cNvPr id="30" name="Shape 28"/>
          <p:cNvSpPr/>
          <p:nvPr/>
        </p:nvSpPr>
        <p:spPr>
          <a:xfrm>
            <a:off x="7589520" y="2592324"/>
            <a:ext cx="2148840" cy="534924"/>
          </a:xfrm>
          <a:prstGeom prst="rect">
            <a:avLst/>
          </a:prstGeom>
          <a:solidFill>
            <a:srgbClr val="F1F5F9"/>
          </a:solidFill>
          <a:ln w="6350">
            <a:solidFill>
              <a:srgbClr val="E2E8F0"/>
            </a:solidFill>
            <a:prstDash val="solid"/>
          </a:ln>
        </p:spPr>
        <p:txBody>
          <a:bodyPr/>
          <a:lstStyle/>
          <a:p>
            <a:endParaRPr lang="en-US"/>
          </a:p>
        </p:txBody>
      </p:sp>
      <p:sp>
        <p:nvSpPr>
          <p:cNvPr id="31" name="Text 29"/>
          <p:cNvSpPr/>
          <p:nvPr/>
        </p:nvSpPr>
        <p:spPr>
          <a:xfrm>
            <a:off x="7662672" y="2592324"/>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32" name="Shape 30"/>
          <p:cNvSpPr/>
          <p:nvPr/>
        </p:nvSpPr>
        <p:spPr>
          <a:xfrm>
            <a:off x="9738360" y="2592324"/>
            <a:ext cx="2084832" cy="534924"/>
          </a:xfrm>
          <a:prstGeom prst="rect">
            <a:avLst/>
          </a:prstGeom>
          <a:solidFill>
            <a:srgbClr val="CCFBF1"/>
          </a:solidFill>
          <a:ln w="6350">
            <a:solidFill>
              <a:srgbClr val="E2E8F0"/>
            </a:solidFill>
            <a:prstDash val="solid"/>
          </a:ln>
        </p:spPr>
        <p:txBody>
          <a:bodyPr/>
          <a:lstStyle/>
          <a:p>
            <a:endParaRPr lang="en-US"/>
          </a:p>
        </p:txBody>
      </p:sp>
      <p:sp>
        <p:nvSpPr>
          <p:cNvPr id="33" name="Text 31"/>
          <p:cNvSpPr/>
          <p:nvPr/>
        </p:nvSpPr>
        <p:spPr>
          <a:xfrm>
            <a:off x="9811512" y="2592324"/>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Yes</a:t>
            </a:r>
            <a:endParaRPr lang="en-US" sz="1100" dirty="0"/>
          </a:p>
        </p:txBody>
      </p:sp>
      <p:sp>
        <p:nvSpPr>
          <p:cNvPr id="34" name="Shape 32"/>
          <p:cNvSpPr/>
          <p:nvPr/>
        </p:nvSpPr>
        <p:spPr>
          <a:xfrm>
            <a:off x="548640" y="3127248"/>
            <a:ext cx="2743200" cy="534924"/>
          </a:xfrm>
          <a:prstGeom prst="rect">
            <a:avLst/>
          </a:prstGeom>
          <a:solidFill>
            <a:srgbClr val="FFFFFF"/>
          </a:solidFill>
          <a:ln w="6350">
            <a:solidFill>
              <a:srgbClr val="E2E8F0"/>
            </a:solidFill>
            <a:prstDash val="solid"/>
          </a:ln>
        </p:spPr>
        <p:txBody>
          <a:bodyPr/>
          <a:lstStyle/>
          <a:p>
            <a:endParaRPr lang="en-US"/>
          </a:p>
        </p:txBody>
      </p:sp>
      <p:sp>
        <p:nvSpPr>
          <p:cNvPr id="35" name="Text 33"/>
          <p:cNvSpPr/>
          <p:nvPr/>
        </p:nvSpPr>
        <p:spPr>
          <a:xfrm>
            <a:off x="621792" y="3127248"/>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Domain auto-tuning</a:t>
            </a:r>
            <a:endParaRPr lang="en-US" sz="1150" dirty="0"/>
          </a:p>
        </p:txBody>
      </p:sp>
      <p:sp>
        <p:nvSpPr>
          <p:cNvPr id="36" name="Shape 34"/>
          <p:cNvSpPr/>
          <p:nvPr/>
        </p:nvSpPr>
        <p:spPr>
          <a:xfrm>
            <a:off x="3291840" y="3127248"/>
            <a:ext cx="2148840" cy="534924"/>
          </a:xfrm>
          <a:prstGeom prst="rect">
            <a:avLst/>
          </a:prstGeom>
          <a:solidFill>
            <a:srgbClr val="FFFFFF"/>
          </a:solidFill>
          <a:ln w="6350">
            <a:solidFill>
              <a:srgbClr val="E2E8F0"/>
            </a:solidFill>
            <a:prstDash val="solid"/>
          </a:ln>
        </p:spPr>
        <p:txBody>
          <a:bodyPr/>
          <a:lstStyle/>
          <a:p>
            <a:endParaRPr lang="en-US"/>
          </a:p>
        </p:txBody>
      </p:sp>
      <p:sp>
        <p:nvSpPr>
          <p:cNvPr id="37" name="Text 35"/>
          <p:cNvSpPr/>
          <p:nvPr/>
        </p:nvSpPr>
        <p:spPr>
          <a:xfrm>
            <a:off x="3364992" y="3127248"/>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38" name="Shape 36"/>
          <p:cNvSpPr/>
          <p:nvPr/>
        </p:nvSpPr>
        <p:spPr>
          <a:xfrm>
            <a:off x="5440680" y="3127248"/>
            <a:ext cx="2148840" cy="534924"/>
          </a:xfrm>
          <a:prstGeom prst="rect">
            <a:avLst/>
          </a:prstGeom>
          <a:solidFill>
            <a:srgbClr val="FFFFFF"/>
          </a:solidFill>
          <a:ln w="6350">
            <a:solidFill>
              <a:srgbClr val="E2E8F0"/>
            </a:solidFill>
            <a:prstDash val="solid"/>
          </a:ln>
        </p:spPr>
        <p:txBody>
          <a:bodyPr/>
          <a:lstStyle/>
          <a:p>
            <a:endParaRPr lang="en-US"/>
          </a:p>
        </p:txBody>
      </p:sp>
      <p:sp>
        <p:nvSpPr>
          <p:cNvPr id="39" name="Text 37"/>
          <p:cNvSpPr/>
          <p:nvPr/>
        </p:nvSpPr>
        <p:spPr>
          <a:xfrm>
            <a:off x="5513832" y="3127248"/>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40" name="Shape 38"/>
          <p:cNvSpPr/>
          <p:nvPr/>
        </p:nvSpPr>
        <p:spPr>
          <a:xfrm>
            <a:off x="7589520" y="3127248"/>
            <a:ext cx="2148840" cy="534924"/>
          </a:xfrm>
          <a:prstGeom prst="rect">
            <a:avLst/>
          </a:prstGeom>
          <a:solidFill>
            <a:srgbClr val="FFFFFF"/>
          </a:solidFill>
          <a:ln w="6350">
            <a:solidFill>
              <a:srgbClr val="E2E8F0"/>
            </a:solidFill>
            <a:prstDash val="solid"/>
          </a:ln>
        </p:spPr>
        <p:txBody>
          <a:bodyPr/>
          <a:lstStyle/>
          <a:p>
            <a:endParaRPr lang="en-US"/>
          </a:p>
        </p:txBody>
      </p:sp>
      <p:sp>
        <p:nvSpPr>
          <p:cNvPr id="41" name="Text 39"/>
          <p:cNvSpPr/>
          <p:nvPr/>
        </p:nvSpPr>
        <p:spPr>
          <a:xfrm>
            <a:off x="7662672" y="3127248"/>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42" name="Shape 40"/>
          <p:cNvSpPr/>
          <p:nvPr/>
        </p:nvSpPr>
        <p:spPr>
          <a:xfrm>
            <a:off x="9738360" y="3127248"/>
            <a:ext cx="2084832" cy="534924"/>
          </a:xfrm>
          <a:prstGeom prst="rect">
            <a:avLst/>
          </a:prstGeom>
          <a:solidFill>
            <a:srgbClr val="E6FBF7"/>
          </a:solidFill>
          <a:ln w="6350">
            <a:solidFill>
              <a:srgbClr val="E2E8F0"/>
            </a:solidFill>
            <a:prstDash val="solid"/>
          </a:ln>
        </p:spPr>
        <p:txBody>
          <a:bodyPr/>
          <a:lstStyle/>
          <a:p>
            <a:endParaRPr lang="en-US"/>
          </a:p>
        </p:txBody>
      </p:sp>
      <p:sp>
        <p:nvSpPr>
          <p:cNvPr id="43" name="Text 41"/>
          <p:cNvSpPr/>
          <p:nvPr/>
        </p:nvSpPr>
        <p:spPr>
          <a:xfrm>
            <a:off x="9811512" y="3127248"/>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Yes</a:t>
            </a:r>
            <a:endParaRPr lang="en-US" sz="1100" dirty="0"/>
          </a:p>
        </p:txBody>
      </p:sp>
      <p:sp>
        <p:nvSpPr>
          <p:cNvPr id="44" name="Shape 42"/>
          <p:cNvSpPr/>
          <p:nvPr/>
        </p:nvSpPr>
        <p:spPr>
          <a:xfrm>
            <a:off x="548640" y="3662172"/>
            <a:ext cx="2743200" cy="534924"/>
          </a:xfrm>
          <a:prstGeom prst="rect">
            <a:avLst/>
          </a:prstGeom>
          <a:solidFill>
            <a:srgbClr val="F1F5F9"/>
          </a:solidFill>
          <a:ln w="6350">
            <a:solidFill>
              <a:srgbClr val="E2E8F0"/>
            </a:solidFill>
            <a:prstDash val="solid"/>
          </a:ln>
        </p:spPr>
        <p:txBody>
          <a:bodyPr/>
          <a:lstStyle/>
          <a:p>
            <a:endParaRPr lang="en-US"/>
          </a:p>
        </p:txBody>
      </p:sp>
      <p:sp>
        <p:nvSpPr>
          <p:cNvPr id="45" name="Text 43"/>
          <p:cNvSpPr/>
          <p:nvPr/>
        </p:nvSpPr>
        <p:spPr>
          <a:xfrm>
            <a:off x="621792" y="3662172"/>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Proactive alerts</a:t>
            </a:r>
            <a:endParaRPr lang="en-US" sz="1150" dirty="0"/>
          </a:p>
        </p:txBody>
      </p:sp>
      <p:sp>
        <p:nvSpPr>
          <p:cNvPr id="46" name="Shape 44"/>
          <p:cNvSpPr/>
          <p:nvPr/>
        </p:nvSpPr>
        <p:spPr>
          <a:xfrm>
            <a:off x="3291840" y="3662172"/>
            <a:ext cx="2148840" cy="534924"/>
          </a:xfrm>
          <a:prstGeom prst="rect">
            <a:avLst/>
          </a:prstGeom>
          <a:solidFill>
            <a:srgbClr val="F1F5F9"/>
          </a:solidFill>
          <a:ln w="6350">
            <a:solidFill>
              <a:srgbClr val="E2E8F0"/>
            </a:solidFill>
            <a:prstDash val="solid"/>
          </a:ln>
        </p:spPr>
        <p:txBody>
          <a:bodyPr/>
          <a:lstStyle/>
          <a:p>
            <a:endParaRPr lang="en-US"/>
          </a:p>
        </p:txBody>
      </p:sp>
      <p:sp>
        <p:nvSpPr>
          <p:cNvPr id="47" name="Text 45"/>
          <p:cNvSpPr/>
          <p:nvPr/>
        </p:nvSpPr>
        <p:spPr>
          <a:xfrm>
            <a:off x="3364992" y="3662172"/>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Limited</a:t>
            </a:r>
            <a:endParaRPr lang="en-US" sz="1100" dirty="0"/>
          </a:p>
        </p:txBody>
      </p:sp>
      <p:sp>
        <p:nvSpPr>
          <p:cNvPr id="48" name="Shape 46"/>
          <p:cNvSpPr/>
          <p:nvPr/>
        </p:nvSpPr>
        <p:spPr>
          <a:xfrm>
            <a:off x="5440680" y="3662172"/>
            <a:ext cx="2148840" cy="534924"/>
          </a:xfrm>
          <a:prstGeom prst="rect">
            <a:avLst/>
          </a:prstGeom>
          <a:solidFill>
            <a:srgbClr val="F1F5F9"/>
          </a:solidFill>
          <a:ln w="6350">
            <a:solidFill>
              <a:srgbClr val="E2E8F0"/>
            </a:solidFill>
            <a:prstDash val="solid"/>
          </a:ln>
        </p:spPr>
        <p:txBody>
          <a:bodyPr/>
          <a:lstStyle/>
          <a:p>
            <a:endParaRPr lang="en-US"/>
          </a:p>
        </p:txBody>
      </p:sp>
      <p:sp>
        <p:nvSpPr>
          <p:cNvPr id="49" name="Text 47"/>
          <p:cNvSpPr/>
          <p:nvPr/>
        </p:nvSpPr>
        <p:spPr>
          <a:xfrm>
            <a:off x="5513832" y="3662172"/>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Some</a:t>
            </a:r>
            <a:endParaRPr lang="en-US" sz="1100" dirty="0"/>
          </a:p>
        </p:txBody>
      </p:sp>
      <p:sp>
        <p:nvSpPr>
          <p:cNvPr id="50" name="Shape 48"/>
          <p:cNvSpPr/>
          <p:nvPr/>
        </p:nvSpPr>
        <p:spPr>
          <a:xfrm>
            <a:off x="7589520" y="3662172"/>
            <a:ext cx="2148840" cy="534924"/>
          </a:xfrm>
          <a:prstGeom prst="rect">
            <a:avLst/>
          </a:prstGeom>
          <a:solidFill>
            <a:srgbClr val="F1F5F9"/>
          </a:solidFill>
          <a:ln w="6350">
            <a:solidFill>
              <a:srgbClr val="E2E8F0"/>
            </a:solidFill>
            <a:prstDash val="solid"/>
          </a:ln>
        </p:spPr>
        <p:txBody>
          <a:bodyPr/>
          <a:lstStyle/>
          <a:p>
            <a:endParaRPr lang="en-US"/>
          </a:p>
        </p:txBody>
      </p:sp>
      <p:sp>
        <p:nvSpPr>
          <p:cNvPr id="51" name="Text 49"/>
          <p:cNvSpPr/>
          <p:nvPr/>
        </p:nvSpPr>
        <p:spPr>
          <a:xfrm>
            <a:off x="7662672" y="3662172"/>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52" name="Shape 50"/>
          <p:cNvSpPr/>
          <p:nvPr/>
        </p:nvSpPr>
        <p:spPr>
          <a:xfrm>
            <a:off x="9738360" y="3662172"/>
            <a:ext cx="2084832" cy="534924"/>
          </a:xfrm>
          <a:prstGeom prst="rect">
            <a:avLst/>
          </a:prstGeom>
          <a:solidFill>
            <a:srgbClr val="CCFBF1"/>
          </a:solidFill>
          <a:ln w="6350">
            <a:solidFill>
              <a:srgbClr val="E2E8F0"/>
            </a:solidFill>
            <a:prstDash val="solid"/>
          </a:ln>
        </p:spPr>
        <p:txBody>
          <a:bodyPr/>
          <a:lstStyle/>
          <a:p>
            <a:endParaRPr lang="en-US"/>
          </a:p>
        </p:txBody>
      </p:sp>
      <p:sp>
        <p:nvSpPr>
          <p:cNvPr id="53" name="Text 51"/>
          <p:cNvSpPr/>
          <p:nvPr/>
        </p:nvSpPr>
        <p:spPr>
          <a:xfrm>
            <a:off x="9811512" y="3662172"/>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Yes</a:t>
            </a:r>
            <a:endParaRPr lang="en-US" sz="1100" dirty="0"/>
          </a:p>
        </p:txBody>
      </p:sp>
      <p:sp>
        <p:nvSpPr>
          <p:cNvPr id="54" name="Shape 52"/>
          <p:cNvSpPr/>
          <p:nvPr/>
        </p:nvSpPr>
        <p:spPr>
          <a:xfrm>
            <a:off x="548640" y="4197096"/>
            <a:ext cx="2743200" cy="534924"/>
          </a:xfrm>
          <a:prstGeom prst="rect">
            <a:avLst/>
          </a:prstGeom>
          <a:solidFill>
            <a:srgbClr val="FFFFFF"/>
          </a:solidFill>
          <a:ln w="6350">
            <a:solidFill>
              <a:srgbClr val="E2E8F0"/>
            </a:solidFill>
            <a:prstDash val="solid"/>
          </a:ln>
        </p:spPr>
        <p:txBody>
          <a:bodyPr/>
          <a:lstStyle/>
          <a:p>
            <a:endParaRPr lang="en-US"/>
          </a:p>
        </p:txBody>
      </p:sp>
      <p:sp>
        <p:nvSpPr>
          <p:cNvPr id="55" name="Text 53"/>
          <p:cNvSpPr/>
          <p:nvPr/>
        </p:nvSpPr>
        <p:spPr>
          <a:xfrm>
            <a:off x="621792" y="4197096"/>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Governance / RBAC</a:t>
            </a:r>
            <a:endParaRPr lang="en-US" sz="1150" dirty="0"/>
          </a:p>
        </p:txBody>
      </p:sp>
      <p:sp>
        <p:nvSpPr>
          <p:cNvPr id="56" name="Shape 54"/>
          <p:cNvSpPr/>
          <p:nvPr/>
        </p:nvSpPr>
        <p:spPr>
          <a:xfrm>
            <a:off x="3291840" y="4197096"/>
            <a:ext cx="2148840" cy="534924"/>
          </a:xfrm>
          <a:prstGeom prst="rect">
            <a:avLst/>
          </a:prstGeom>
          <a:solidFill>
            <a:srgbClr val="FFFFFF"/>
          </a:solidFill>
          <a:ln w="6350">
            <a:solidFill>
              <a:srgbClr val="E2E8F0"/>
            </a:solidFill>
            <a:prstDash val="solid"/>
          </a:ln>
        </p:spPr>
        <p:txBody>
          <a:bodyPr/>
          <a:lstStyle/>
          <a:p>
            <a:endParaRPr lang="en-US"/>
          </a:p>
        </p:txBody>
      </p:sp>
      <p:sp>
        <p:nvSpPr>
          <p:cNvPr id="57" name="Text 55"/>
          <p:cNvSpPr/>
          <p:nvPr/>
        </p:nvSpPr>
        <p:spPr>
          <a:xfrm>
            <a:off x="3364992" y="4197096"/>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Enterprise</a:t>
            </a:r>
            <a:endParaRPr lang="en-US" sz="1100" dirty="0"/>
          </a:p>
        </p:txBody>
      </p:sp>
      <p:sp>
        <p:nvSpPr>
          <p:cNvPr id="58" name="Shape 56"/>
          <p:cNvSpPr/>
          <p:nvPr/>
        </p:nvSpPr>
        <p:spPr>
          <a:xfrm>
            <a:off x="5440680" y="4197096"/>
            <a:ext cx="2148840" cy="534924"/>
          </a:xfrm>
          <a:prstGeom prst="rect">
            <a:avLst/>
          </a:prstGeom>
          <a:solidFill>
            <a:srgbClr val="FFFFFF"/>
          </a:solidFill>
          <a:ln w="6350">
            <a:solidFill>
              <a:srgbClr val="E2E8F0"/>
            </a:solidFill>
            <a:prstDash val="solid"/>
          </a:ln>
        </p:spPr>
        <p:txBody>
          <a:bodyPr/>
          <a:lstStyle/>
          <a:p>
            <a:endParaRPr lang="en-US"/>
          </a:p>
        </p:txBody>
      </p:sp>
      <p:sp>
        <p:nvSpPr>
          <p:cNvPr id="59" name="Text 57"/>
          <p:cNvSpPr/>
          <p:nvPr/>
        </p:nvSpPr>
        <p:spPr>
          <a:xfrm>
            <a:off x="5513832" y="4197096"/>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Yes</a:t>
            </a:r>
            <a:endParaRPr lang="en-US" sz="1100" dirty="0"/>
          </a:p>
        </p:txBody>
      </p:sp>
      <p:sp>
        <p:nvSpPr>
          <p:cNvPr id="60" name="Shape 58"/>
          <p:cNvSpPr/>
          <p:nvPr/>
        </p:nvSpPr>
        <p:spPr>
          <a:xfrm>
            <a:off x="7589520" y="4197096"/>
            <a:ext cx="2148840" cy="534924"/>
          </a:xfrm>
          <a:prstGeom prst="rect">
            <a:avLst/>
          </a:prstGeom>
          <a:solidFill>
            <a:srgbClr val="FFFFFF"/>
          </a:solidFill>
          <a:ln w="6350">
            <a:solidFill>
              <a:srgbClr val="E2E8F0"/>
            </a:solidFill>
            <a:prstDash val="solid"/>
          </a:ln>
        </p:spPr>
        <p:txBody>
          <a:bodyPr/>
          <a:lstStyle/>
          <a:p>
            <a:endParaRPr lang="en-US"/>
          </a:p>
        </p:txBody>
      </p:sp>
      <p:sp>
        <p:nvSpPr>
          <p:cNvPr id="61" name="Text 59"/>
          <p:cNvSpPr/>
          <p:nvPr/>
        </p:nvSpPr>
        <p:spPr>
          <a:xfrm>
            <a:off x="7662672" y="4197096"/>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62" name="Shape 60"/>
          <p:cNvSpPr/>
          <p:nvPr/>
        </p:nvSpPr>
        <p:spPr>
          <a:xfrm>
            <a:off x="9738360" y="4197096"/>
            <a:ext cx="2084832" cy="534924"/>
          </a:xfrm>
          <a:prstGeom prst="rect">
            <a:avLst/>
          </a:prstGeom>
          <a:solidFill>
            <a:srgbClr val="E6FBF7"/>
          </a:solidFill>
          <a:ln w="6350">
            <a:solidFill>
              <a:srgbClr val="E2E8F0"/>
            </a:solidFill>
            <a:prstDash val="solid"/>
          </a:ln>
        </p:spPr>
        <p:txBody>
          <a:bodyPr/>
          <a:lstStyle/>
          <a:p>
            <a:endParaRPr lang="en-US"/>
          </a:p>
        </p:txBody>
      </p:sp>
      <p:sp>
        <p:nvSpPr>
          <p:cNvPr id="63" name="Text 61"/>
          <p:cNvSpPr/>
          <p:nvPr/>
        </p:nvSpPr>
        <p:spPr>
          <a:xfrm>
            <a:off x="9811512" y="4197096"/>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Built-in</a:t>
            </a:r>
            <a:endParaRPr lang="en-US" sz="1100" dirty="0"/>
          </a:p>
        </p:txBody>
      </p:sp>
      <p:sp>
        <p:nvSpPr>
          <p:cNvPr id="64" name="Shape 62"/>
          <p:cNvSpPr/>
          <p:nvPr/>
        </p:nvSpPr>
        <p:spPr>
          <a:xfrm>
            <a:off x="548640" y="4732020"/>
            <a:ext cx="2743200" cy="534924"/>
          </a:xfrm>
          <a:prstGeom prst="rect">
            <a:avLst/>
          </a:prstGeom>
          <a:solidFill>
            <a:srgbClr val="F1F5F9"/>
          </a:solidFill>
          <a:ln w="6350">
            <a:solidFill>
              <a:srgbClr val="E2E8F0"/>
            </a:solidFill>
            <a:prstDash val="solid"/>
          </a:ln>
        </p:spPr>
        <p:txBody>
          <a:bodyPr/>
          <a:lstStyle/>
          <a:p>
            <a:endParaRPr lang="en-US"/>
          </a:p>
        </p:txBody>
      </p:sp>
      <p:sp>
        <p:nvSpPr>
          <p:cNvPr id="65" name="Text 63"/>
          <p:cNvSpPr/>
          <p:nvPr/>
        </p:nvSpPr>
        <p:spPr>
          <a:xfrm>
            <a:off x="621792" y="4732020"/>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Built for no-data-team SMB</a:t>
            </a:r>
            <a:endParaRPr lang="en-US" sz="1150" dirty="0"/>
          </a:p>
        </p:txBody>
      </p:sp>
      <p:sp>
        <p:nvSpPr>
          <p:cNvPr id="66" name="Shape 64"/>
          <p:cNvSpPr/>
          <p:nvPr/>
        </p:nvSpPr>
        <p:spPr>
          <a:xfrm>
            <a:off x="3291840" y="4732020"/>
            <a:ext cx="2148840" cy="534924"/>
          </a:xfrm>
          <a:prstGeom prst="rect">
            <a:avLst/>
          </a:prstGeom>
          <a:solidFill>
            <a:srgbClr val="F1F5F9"/>
          </a:solidFill>
          <a:ln w="6350">
            <a:solidFill>
              <a:srgbClr val="E2E8F0"/>
            </a:solidFill>
            <a:prstDash val="solid"/>
          </a:ln>
        </p:spPr>
        <p:txBody>
          <a:bodyPr/>
          <a:lstStyle/>
          <a:p>
            <a:endParaRPr lang="en-US"/>
          </a:p>
        </p:txBody>
      </p:sp>
      <p:sp>
        <p:nvSpPr>
          <p:cNvPr id="67" name="Text 65"/>
          <p:cNvSpPr/>
          <p:nvPr/>
        </p:nvSpPr>
        <p:spPr>
          <a:xfrm>
            <a:off x="3364992" y="4732020"/>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No</a:t>
            </a:r>
            <a:endParaRPr lang="en-US" sz="1100" dirty="0"/>
          </a:p>
        </p:txBody>
      </p:sp>
      <p:sp>
        <p:nvSpPr>
          <p:cNvPr id="68" name="Shape 66"/>
          <p:cNvSpPr/>
          <p:nvPr/>
        </p:nvSpPr>
        <p:spPr>
          <a:xfrm>
            <a:off x="5440680" y="4732020"/>
            <a:ext cx="2148840" cy="534924"/>
          </a:xfrm>
          <a:prstGeom prst="rect">
            <a:avLst/>
          </a:prstGeom>
          <a:solidFill>
            <a:srgbClr val="F1F5F9"/>
          </a:solidFill>
          <a:ln w="6350">
            <a:solidFill>
              <a:srgbClr val="E2E8F0"/>
            </a:solidFill>
            <a:prstDash val="solid"/>
          </a:ln>
        </p:spPr>
        <p:txBody>
          <a:bodyPr/>
          <a:lstStyle/>
          <a:p>
            <a:endParaRPr lang="en-US"/>
          </a:p>
        </p:txBody>
      </p:sp>
      <p:sp>
        <p:nvSpPr>
          <p:cNvPr id="69" name="Text 67"/>
          <p:cNvSpPr/>
          <p:nvPr/>
        </p:nvSpPr>
        <p:spPr>
          <a:xfrm>
            <a:off x="5513832" y="4732020"/>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Partial</a:t>
            </a:r>
            <a:endParaRPr lang="en-US" sz="1100" dirty="0"/>
          </a:p>
        </p:txBody>
      </p:sp>
      <p:sp>
        <p:nvSpPr>
          <p:cNvPr id="70" name="Shape 68"/>
          <p:cNvSpPr/>
          <p:nvPr/>
        </p:nvSpPr>
        <p:spPr>
          <a:xfrm>
            <a:off x="7589520" y="4732020"/>
            <a:ext cx="2148840" cy="534924"/>
          </a:xfrm>
          <a:prstGeom prst="rect">
            <a:avLst/>
          </a:prstGeom>
          <a:solidFill>
            <a:srgbClr val="F1F5F9"/>
          </a:solidFill>
          <a:ln w="6350">
            <a:solidFill>
              <a:srgbClr val="E2E8F0"/>
            </a:solidFill>
            <a:prstDash val="solid"/>
          </a:ln>
        </p:spPr>
        <p:txBody>
          <a:bodyPr/>
          <a:lstStyle/>
          <a:p>
            <a:endParaRPr lang="en-US"/>
          </a:p>
        </p:txBody>
      </p:sp>
      <p:sp>
        <p:nvSpPr>
          <p:cNvPr id="71" name="Text 69"/>
          <p:cNvSpPr/>
          <p:nvPr/>
        </p:nvSpPr>
        <p:spPr>
          <a:xfrm>
            <a:off x="7662672" y="4732020"/>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Yes</a:t>
            </a:r>
            <a:endParaRPr lang="en-US" sz="1100" dirty="0"/>
          </a:p>
        </p:txBody>
      </p:sp>
      <p:sp>
        <p:nvSpPr>
          <p:cNvPr id="72" name="Shape 70"/>
          <p:cNvSpPr/>
          <p:nvPr/>
        </p:nvSpPr>
        <p:spPr>
          <a:xfrm>
            <a:off x="9738360" y="4732020"/>
            <a:ext cx="2084832" cy="534924"/>
          </a:xfrm>
          <a:prstGeom prst="rect">
            <a:avLst/>
          </a:prstGeom>
          <a:solidFill>
            <a:srgbClr val="CCFBF1"/>
          </a:solidFill>
          <a:ln w="6350">
            <a:solidFill>
              <a:srgbClr val="E2E8F0"/>
            </a:solidFill>
            <a:prstDash val="solid"/>
          </a:ln>
        </p:spPr>
        <p:txBody>
          <a:bodyPr/>
          <a:lstStyle/>
          <a:p>
            <a:endParaRPr lang="en-US"/>
          </a:p>
        </p:txBody>
      </p:sp>
      <p:sp>
        <p:nvSpPr>
          <p:cNvPr id="73" name="Text 71"/>
          <p:cNvSpPr/>
          <p:nvPr/>
        </p:nvSpPr>
        <p:spPr>
          <a:xfrm>
            <a:off x="9811512" y="4732020"/>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Yes</a:t>
            </a:r>
            <a:endParaRPr lang="en-US" sz="1100" dirty="0"/>
          </a:p>
        </p:txBody>
      </p:sp>
      <p:sp>
        <p:nvSpPr>
          <p:cNvPr id="74" name="Shape 72"/>
          <p:cNvSpPr/>
          <p:nvPr/>
        </p:nvSpPr>
        <p:spPr>
          <a:xfrm>
            <a:off x="548640" y="5266944"/>
            <a:ext cx="2743200" cy="534924"/>
          </a:xfrm>
          <a:prstGeom prst="rect">
            <a:avLst/>
          </a:prstGeom>
          <a:solidFill>
            <a:srgbClr val="FFFFFF"/>
          </a:solidFill>
          <a:ln w="6350">
            <a:solidFill>
              <a:srgbClr val="E2E8F0"/>
            </a:solidFill>
            <a:prstDash val="solid"/>
          </a:ln>
        </p:spPr>
        <p:txBody>
          <a:bodyPr/>
          <a:lstStyle/>
          <a:p>
            <a:endParaRPr lang="en-US"/>
          </a:p>
        </p:txBody>
      </p:sp>
      <p:sp>
        <p:nvSpPr>
          <p:cNvPr id="75" name="Text 73"/>
          <p:cNvSpPr/>
          <p:nvPr/>
        </p:nvSpPr>
        <p:spPr>
          <a:xfrm>
            <a:off x="621792" y="5266944"/>
            <a:ext cx="2596896" cy="534924"/>
          </a:xfrm>
          <a:prstGeom prst="rect">
            <a:avLst/>
          </a:prstGeom>
          <a:noFill/>
          <a:ln/>
        </p:spPr>
        <p:txBody>
          <a:bodyPr wrap="square" rtlCol="0" anchor="ctr"/>
          <a:lstStyle/>
          <a:p>
            <a:pPr marL="0" indent="0" algn="l">
              <a:buNone/>
            </a:pPr>
            <a:r>
              <a:rPr lang="en-US" sz="1150" b="1" dirty="0">
                <a:solidFill>
                  <a:srgbClr val="1E293B"/>
                </a:solidFill>
                <a:latin typeface="Calibri" pitchFamily="34" charset="0"/>
                <a:ea typeface="Calibri" pitchFamily="34" charset="-122"/>
                <a:cs typeface="Calibri" pitchFamily="34" charset="-120"/>
              </a:rPr>
              <a:t>Time to first insight</a:t>
            </a:r>
            <a:endParaRPr lang="en-US" sz="1150" dirty="0"/>
          </a:p>
        </p:txBody>
      </p:sp>
      <p:sp>
        <p:nvSpPr>
          <p:cNvPr id="76" name="Shape 74"/>
          <p:cNvSpPr/>
          <p:nvPr/>
        </p:nvSpPr>
        <p:spPr>
          <a:xfrm>
            <a:off x="3291840" y="5266944"/>
            <a:ext cx="2148840" cy="534924"/>
          </a:xfrm>
          <a:prstGeom prst="rect">
            <a:avLst/>
          </a:prstGeom>
          <a:solidFill>
            <a:srgbClr val="FFFFFF"/>
          </a:solidFill>
          <a:ln w="6350">
            <a:solidFill>
              <a:srgbClr val="E2E8F0"/>
            </a:solidFill>
            <a:prstDash val="solid"/>
          </a:ln>
        </p:spPr>
        <p:txBody>
          <a:bodyPr/>
          <a:lstStyle/>
          <a:p>
            <a:endParaRPr lang="en-US"/>
          </a:p>
        </p:txBody>
      </p:sp>
      <p:sp>
        <p:nvSpPr>
          <p:cNvPr id="77" name="Text 75"/>
          <p:cNvSpPr/>
          <p:nvPr/>
        </p:nvSpPr>
        <p:spPr>
          <a:xfrm>
            <a:off x="3364992" y="5266944"/>
            <a:ext cx="2002536" cy="534924"/>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Days</a:t>
            </a:r>
            <a:endParaRPr lang="en-US" sz="1100" dirty="0"/>
          </a:p>
        </p:txBody>
      </p:sp>
      <p:sp>
        <p:nvSpPr>
          <p:cNvPr id="78" name="Shape 76"/>
          <p:cNvSpPr/>
          <p:nvPr/>
        </p:nvSpPr>
        <p:spPr>
          <a:xfrm>
            <a:off x="5440680" y="5266944"/>
            <a:ext cx="2148840" cy="534924"/>
          </a:xfrm>
          <a:prstGeom prst="rect">
            <a:avLst/>
          </a:prstGeom>
          <a:solidFill>
            <a:srgbClr val="FFFFFF"/>
          </a:solidFill>
          <a:ln w="6350">
            <a:solidFill>
              <a:srgbClr val="E2E8F0"/>
            </a:solidFill>
            <a:prstDash val="solid"/>
          </a:ln>
        </p:spPr>
        <p:txBody>
          <a:bodyPr/>
          <a:lstStyle/>
          <a:p>
            <a:endParaRPr lang="en-US"/>
          </a:p>
        </p:txBody>
      </p:sp>
      <p:sp>
        <p:nvSpPr>
          <p:cNvPr id="79" name="Text 77"/>
          <p:cNvSpPr/>
          <p:nvPr/>
        </p:nvSpPr>
        <p:spPr>
          <a:xfrm>
            <a:off x="5513832" y="5266944"/>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Hours</a:t>
            </a:r>
            <a:endParaRPr lang="en-US" sz="1100" dirty="0"/>
          </a:p>
        </p:txBody>
      </p:sp>
      <p:sp>
        <p:nvSpPr>
          <p:cNvPr id="80" name="Shape 78"/>
          <p:cNvSpPr/>
          <p:nvPr/>
        </p:nvSpPr>
        <p:spPr>
          <a:xfrm>
            <a:off x="7589520" y="5266944"/>
            <a:ext cx="2148840" cy="534924"/>
          </a:xfrm>
          <a:prstGeom prst="rect">
            <a:avLst/>
          </a:prstGeom>
          <a:solidFill>
            <a:srgbClr val="FFFFFF"/>
          </a:solidFill>
          <a:ln w="6350">
            <a:solidFill>
              <a:srgbClr val="E2E8F0"/>
            </a:solidFill>
            <a:prstDash val="solid"/>
          </a:ln>
        </p:spPr>
        <p:txBody>
          <a:bodyPr/>
          <a:lstStyle/>
          <a:p>
            <a:endParaRPr lang="en-US"/>
          </a:p>
        </p:txBody>
      </p:sp>
      <p:sp>
        <p:nvSpPr>
          <p:cNvPr id="81" name="Text 79"/>
          <p:cNvSpPr/>
          <p:nvPr/>
        </p:nvSpPr>
        <p:spPr>
          <a:xfrm>
            <a:off x="7662672" y="5266944"/>
            <a:ext cx="2002536" cy="534924"/>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Minutes*</a:t>
            </a:r>
            <a:endParaRPr lang="en-US" sz="1100" dirty="0"/>
          </a:p>
        </p:txBody>
      </p:sp>
      <p:sp>
        <p:nvSpPr>
          <p:cNvPr id="82" name="Shape 80"/>
          <p:cNvSpPr/>
          <p:nvPr/>
        </p:nvSpPr>
        <p:spPr>
          <a:xfrm>
            <a:off x="9738360" y="5266944"/>
            <a:ext cx="2084832" cy="534924"/>
          </a:xfrm>
          <a:prstGeom prst="rect">
            <a:avLst/>
          </a:prstGeom>
          <a:solidFill>
            <a:srgbClr val="E6FBF7"/>
          </a:solidFill>
          <a:ln w="6350">
            <a:solidFill>
              <a:srgbClr val="E2E8F0"/>
            </a:solidFill>
            <a:prstDash val="solid"/>
          </a:ln>
        </p:spPr>
        <p:txBody>
          <a:bodyPr/>
          <a:lstStyle/>
          <a:p>
            <a:endParaRPr lang="en-US"/>
          </a:p>
        </p:txBody>
      </p:sp>
      <p:sp>
        <p:nvSpPr>
          <p:cNvPr id="83" name="Text 81"/>
          <p:cNvSpPr/>
          <p:nvPr/>
        </p:nvSpPr>
        <p:spPr>
          <a:xfrm>
            <a:off x="9811512" y="5266944"/>
            <a:ext cx="1938528" cy="534924"/>
          </a:xfrm>
          <a:prstGeom prst="rect">
            <a:avLst/>
          </a:prstGeom>
          <a:noFill/>
          <a:ln/>
        </p:spPr>
        <p:txBody>
          <a:bodyPr wrap="square" rtlCol="0" anchor="ctr"/>
          <a:lstStyle/>
          <a:p>
            <a:pPr marL="0" indent="0" algn="ctr">
              <a:buNone/>
            </a:pPr>
            <a:r>
              <a:rPr lang="en-US" sz="1100" b="1" dirty="0">
                <a:solidFill>
                  <a:srgbClr val="059669"/>
                </a:solidFill>
                <a:latin typeface="Calibri" pitchFamily="34" charset="0"/>
                <a:ea typeface="Calibri" pitchFamily="34" charset="-122"/>
                <a:cs typeface="Calibri" pitchFamily="34" charset="-120"/>
              </a:rPr>
              <a:t>Minutes</a:t>
            </a:r>
            <a:endParaRPr lang="en-US" sz="1100" dirty="0"/>
          </a:p>
        </p:txBody>
      </p:sp>
      <p:sp>
        <p:nvSpPr>
          <p:cNvPr id="84" name="Text 82"/>
          <p:cNvSpPr/>
          <p:nvPr/>
        </p:nvSpPr>
        <p:spPr>
          <a:xfrm>
            <a:off x="548640" y="6172200"/>
            <a:ext cx="10972800" cy="274320"/>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 Only if a developer builds it (Power BI) or within a single session (ChatGPT/Julius).</a:t>
            </a:r>
            <a:endParaRPr lang="en-US" sz="1000" dirty="0"/>
          </a:p>
        </p:txBody>
      </p:sp>
      <p:sp>
        <p:nvSpPr>
          <p:cNvPr id="85" name="Text 83"/>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8</a:t>
            </a:r>
            <a:endParaRPr lang="en-US" sz="900" dirty="0"/>
          </a:p>
        </p:txBody>
      </p:sp>
      <p:sp>
        <p:nvSpPr>
          <p:cNvPr id="86" name="Text 84"/>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D97706"/>
                </a:solidFill>
                <a:latin typeface="Calibri" pitchFamily="34" charset="0"/>
                <a:ea typeface="Calibri" pitchFamily="34" charset="-122"/>
                <a:cs typeface="Calibri" pitchFamily="34" charset="-120"/>
              </a:rPr>
              <a:t>FOR THE PRESALES TEAM</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The 8-minute demo script</a:t>
            </a:r>
            <a:endParaRPr lang="en-US" sz="3200" dirty="0"/>
          </a:p>
        </p:txBody>
      </p:sp>
      <p:sp>
        <p:nvSpPr>
          <p:cNvPr id="4" name="Shape 2"/>
          <p:cNvSpPr/>
          <p:nvPr/>
        </p:nvSpPr>
        <p:spPr>
          <a:xfrm>
            <a:off x="548640" y="1645920"/>
            <a:ext cx="914400" cy="548640"/>
          </a:xfrm>
          <a:prstGeom prst="roundRect">
            <a:avLst>
              <a:gd name="adj" fmla="val 10000"/>
            </a:avLst>
          </a:prstGeom>
          <a:solidFill>
            <a:srgbClr val="2563EB"/>
          </a:solidFill>
          <a:ln/>
        </p:spPr>
        <p:txBody>
          <a:bodyPr/>
          <a:lstStyle/>
          <a:p>
            <a:endParaRPr lang="en-US"/>
          </a:p>
        </p:txBody>
      </p:sp>
      <p:sp>
        <p:nvSpPr>
          <p:cNvPr id="5" name="Text 3"/>
          <p:cNvSpPr/>
          <p:nvPr/>
        </p:nvSpPr>
        <p:spPr>
          <a:xfrm>
            <a:off x="548640" y="1645920"/>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0:00</a:t>
            </a:r>
            <a:endParaRPr lang="en-US" sz="1300" dirty="0"/>
          </a:p>
        </p:txBody>
      </p:sp>
      <p:sp>
        <p:nvSpPr>
          <p:cNvPr id="6" name="Text 4"/>
          <p:cNvSpPr/>
          <p:nvPr/>
        </p:nvSpPr>
        <p:spPr>
          <a:xfrm>
            <a:off x="1645920" y="1645920"/>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Set the scene</a:t>
            </a:r>
            <a:endParaRPr lang="en-US" sz="1400" dirty="0"/>
          </a:p>
        </p:txBody>
      </p:sp>
      <p:sp>
        <p:nvSpPr>
          <p:cNvPr id="7" name="Text 5"/>
          <p:cNvSpPr/>
          <p:nvPr/>
        </p:nvSpPr>
        <p:spPr>
          <a:xfrm>
            <a:off x="4114800" y="1645920"/>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"You run a business, not a data team. Watch this." Have a messy Excel/CSV ready (their industry if possible).</a:t>
            </a:r>
            <a:endParaRPr lang="en-US" sz="1200" dirty="0"/>
          </a:p>
        </p:txBody>
      </p:sp>
      <p:sp>
        <p:nvSpPr>
          <p:cNvPr id="8" name="Shape 6"/>
          <p:cNvSpPr/>
          <p:nvPr/>
        </p:nvSpPr>
        <p:spPr>
          <a:xfrm>
            <a:off x="548640" y="2304288"/>
            <a:ext cx="914400" cy="548640"/>
          </a:xfrm>
          <a:prstGeom prst="roundRect">
            <a:avLst>
              <a:gd name="adj" fmla="val 10000"/>
            </a:avLst>
          </a:prstGeom>
          <a:solidFill>
            <a:srgbClr val="0D9488"/>
          </a:solidFill>
          <a:ln/>
        </p:spPr>
        <p:txBody>
          <a:bodyPr/>
          <a:lstStyle/>
          <a:p>
            <a:endParaRPr lang="en-US"/>
          </a:p>
        </p:txBody>
      </p:sp>
      <p:sp>
        <p:nvSpPr>
          <p:cNvPr id="9" name="Text 7"/>
          <p:cNvSpPr/>
          <p:nvPr/>
        </p:nvSpPr>
        <p:spPr>
          <a:xfrm>
            <a:off x="548640" y="2304288"/>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1:00</a:t>
            </a:r>
            <a:endParaRPr lang="en-US" sz="1300" dirty="0"/>
          </a:p>
        </p:txBody>
      </p:sp>
      <p:sp>
        <p:nvSpPr>
          <p:cNvPr id="10" name="Text 8"/>
          <p:cNvSpPr/>
          <p:nvPr/>
        </p:nvSpPr>
        <p:spPr>
          <a:xfrm>
            <a:off x="1645920" y="2304288"/>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Upload</a:t>
            </a:r>
            <a:endParaRPr lang="en-US" sz="1400" dirty="0"/>
          </a:p>
        </p:txBody>
      </p:sp>
      <p:sp>
        <p:nvSpPr>
          <p:cNvPr id="11" name="Text 9"/>
          <p:cNvSpPr/>
          <p:nvPr/>
        </p:nvSpPr>
        <p:spPr>
          <a:xfrm>
            <a:off x="4114800" y="2304288"/>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Drag the file in. Point out: no mapping, no setup, no ETL config. It just starts.</a:t>
            </a:r>
            <a:endParaRPr lang="en-US" sz="1200" dirty="0"/>
          </a:p>
        </p:txBody>
      </p:sp>
      <p:sp>
        <p:nvSpPr>
          <p:cNvPr id="12" name="Shape 10"/>
          <p:cNvSpPr/>
          <p:nvPr/>
        </p:nvSpPr>
        <p:spPr>
          <a:xfrm>
            <a:off x="548640" y="2962656"/>
            <a:ext cx="914400" cy="548640"/>
          </a:xfrm>
          <a:prstGeom prst="roundRect">
            <a:avLst>
              <a:gd name="adj" fmla="val 10000"/>
            </a:avLst>
          </a:prstGeom>
          <a:solidFill>
            <a:srgbClr val="D97706"/>
          </a:solidFill>
          <a:ln/>
        </p:spPr>
        <p:txBody>
          <a:bodyPr/>
          <a:lstStyle/>
          <a:p>
            <a:endParaRPr lang="en-US"/>
          </a:p>
        </p:txBody>
      </p:sp>
      <p:sp>
        <p:nvSpPr>
          <p:cNvPr id="13" name="Text 11"/>
          <p:cNvSpPr/>
          <p:nvPr/>
        </p:nvSpPr>
        <p:spPr>
          <a:xfrm>
            <a:off x="548640" y="2962656"/>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2:00</a:t>
            </a:r>
            <a:endParaRPr lang="en-US" sz="1300" dirty="0"/>
          </a:p>
        </p:txBody>
      </p:sp>
      <p:sp>
        <p:nvSpPr>
          <p:cNvPr id="14" name="Text 12"/>
          <p:cNvSpPr/>
          <p:nvPr/>
        </p:nvSpPr>
        <p:spPr>
          <a:xfrm>
            <a:off x="1645920" y="2962656"/>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Auto-detection</a:t>
            </a:r>
            <a:endParaRPr lang="en-US" sz="1400" dirty="0"/>
          </a:p>
        </p:txBody>
      </p:sp>
      <p:sp>
        <p:nvSpPr>
          <p:cNvPr id="15" name="Text 13"/>
          <p:cNvSpPr/>
          <p:nvPr/>
        </p:nvSpPr>
        <p:spPr>
          <a:xfrm>
            <a:off x="4114800" y="2962656"/>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Show it recognizing the domain and confirming the model. "It already knows this is a retail file."</a:t>
            </a:r>
            <a:endParaRPr lang="en-US" sz="1200" dirty="0"/>
          </a:p>
        </p:txBody>
      </p:sp>
      <p:sp>
        <p:nvSpPr>
          <p:cNvPr id="16" name="Shape 14"/>
          <p:cNvSpPr/>
          <p:nvPr/>
        </p:nvSpPr>
        <p:spPr>
          <a:xfrm>
            <a:off x="548640" y="3621024"/>
            <a:ext cx="914400" cy="548640"/>
          </a:xfrm>
          <a:prstGeom prst="roundRect">
            <a:avLst>
              <a:gd name="adj" fmla="val 10000"/>
            </a:avLst>
          </a:prstGeom>
          <a:solidFill>
            <a:srgbClr val="059669"/>
          </a:solidFill>
          <a:ln/>
        </p:spPr>
        <p:txBody>
          <a:bodyPr/>
          <a:lstStyle/>
          <a:p>
            <a:endParaRPr lang="en-US"/>
          </a:p>
        </p:txBody>
      </p:sp>
      <p:sp>
        <p:nvSpPr>
          <p:cNvPr id="17" name="Text 15"/>
          <p:cNvSpPr/>
          <p:nvPr/>
        </p:nvSpPr>
        <p:spPr>
          <a:xfrm>
            <a:off x="548640" y="3621024"/>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3:30</a:t>
            </a:r>
            <a:endParaRPr lang="en-US" sz="1300" dirty="0"/>
          </a:p>
        </p:txBody>
      </p:sp>
      <p:sp>
        <p:nvSpPr>
          <p:cNvPr id="18" name="Text 16"/>
          <p:cNvSpPr/>
          <p:nvPr/>
        </p:nvSpPr>
        <p:spPr>
          <a:xfrm>
            <a:off x="1645920" y="3621024"/>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Instant analytics</a:t>
            </a:r>
            <a:endParaRPr lang="en-US" sz="1400" dirty="0"/>
          </a:p>
        </p:txBody>
      </p:sp>
      <p:sp>
        <p:nvSpPr>
          <p:cNvPr id="19" name="Text 17"/>
          <p:cNvSpPr/>
          <p:nvPr/>
        </p:nvSpPr>
        <p:spPr>
          <a:xfrm>
            <a:off x="4114800" y="3621024"/>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Land on the dashboard — domain KPIs, trends, cash flow, in their currency. "That took 90 seconds."</a:t>
            </a:r>
            <a:endParaRPr lang="en-US" sz="1200" dirty="0"/>
          </a:p>
        </p:txBody>
      </p:sp>
      <p:sp>
        <p:nvSpPr>
          <p:cNvPr id="20" name="Shape 18"/>
          <p:cNvSpPr/>
          <p:nvPr/>
        </p:nvSpPr>
        <p:spPr>
          <a:xfrm>
            <a:off x="548640" y="4279392"/>
            <a:ext cx="914400" cy="548640"/>
          </a:xfrm>
          <a:prstGeom prst="roundRect">
            <a:avLst>
              <a:gd name="adj" fmla="val 10000"/>
            </a:avLst>
          </a:prstGeom>
          <a:solidFill>
            <a:srgbClr val="7C3AED"/>
          </a:solidFill>
          <a:ln/>
        </p:spPr>
        <p:txBody>
          <a:bodyPr/>
          <a:lstStyle/>
          <a:p>
            <a:endParaRPr lang="en-US"/>
          </a:p>
        </p:txBody>
      </p:sp>
      <p:sp>
        <p:nvSpPr>
          <p:cNvPr id="21" name="Text 19"/>
          <p:cNvSpPr/>
          <p:nvPr/>
        </p:nvSpPr>
        <p:spPr>
          <a:xfrm>
            <a:off x="548640" y="4279392"/>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22" name="Text 20"/>
          <p:cNvSpPr/>
          <p:nvPr/>
        </p:nvSpPr>
        <p:spPr>
          <a:xfrm>
            <a:off x="1645920" y="4279392"/>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Ask the AI</a:t>
            </a:r>
            <a:endParaRPr lang="en-US" sz="1400" dirty="0"/>
          </a:p>
        </p:txBody>
      </p:sp>
      <p:sp>
        <p:nvSpPr>
          <p:cNvPr id="23" name="Text 21"/>
          <p:cNvSpPr/>
          <p:nvPr/>
        </p:nvSpPr>
        <p:spPr>
          <a:xfrm>
            <a:off x="4114800" y="4279392"/>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Type a plain-language question. Show grounded, tenant-scoped answer. Contrast: "and this remembers, unlike ChatGPT."</a:t>
            </a:r>
            <a:endParaRPr lang="en-US" sz="1200" dirty="0"/>
          </a:p>
        </p:txBody>
      </p:sp>
      <p:sp>
        <p:nvSpPr>
          <p:cNvPr id="24" name="Shape 22"/>
          <p:cNvSpPr/>
          <p:nvPr/>
        </p:nvSpPr>
        <p:spPr>
          <a:xfrm>
            <a:off x="548640" y="4937760"/>
            <a:ext cx="914400" cy="548640"/>
          </a:xfrm>
          <a:prstGeom prst="roundRect">
            <a:avLst>
              <a:gd name="adj" fmla="val 10000"/>
            </a:avLst>
          </a:prstGeom>
          <a:solidFill>
            <a:srgbClr val="DC2626"/>
          </a:solidFill>
          <a:ln/>
        </p:spPr>
        <p:txBody>
          <a:bodyPr/>
          <a:lstStyle/>
          <a:p>
            <a:endParaRPr lang="en-US"/>
          </a:p>
        </p:txBody>
      </p:sp>
      <p:sp>
        <p:nvSpPr>
          <p:cNvPr id="25" name="Text 23"/>
          <p:cNvSpPr/>
          <p:nvPr/>
        </p:nvSpPr>
        <p:spPr>
          <a:xfrm>
            <a:off x="548640" y="4937760"/>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6:30</a:t>
            </a:r>
            <a:endParaRPr lang="en-US" sz="1300" dirty="0"/>
          </a:p>
        </p:txBody>
      </p:sp>
      <p:sp>
        <p:nvSpPr>
          <p:cNvPr id="26" name="Text 24"/>
          <p:cNvSpPr/>
          <p:nvPr/>
        </p:nvSpPr>
        <p:spPr>
          <a:xfrm>
            <a:off x="1645920" y="4937760"/>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Proactive alert</a:t>
            </a:r>
            <a:endParaRPr lang="en-US" sz="1400" dirty="0"/>
          </a:p>
        </p:txBody>
      </p:sp>
      <p:sp>
        <p:nvSpPr>
          <p:cNvPr id="27" name="Text 25"/>
          <p:cNvSpPr/>
          <p:nvPr/>
        </p:nvSpPr>
        <p:spPr>
          <a:xfrm>
            <a:off x="4114800" y="4937760"/>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Show an anomaly flag / alert config. "It watches your numbers so you don't have to."</a:t>
            </a:r>
            <a:endParaRPr lang="en-US" sz="1200" dirty="0"/>
          </a:p>
        </p:txBody>
      </p:sp>
      <p:sp>
        <p:nvSpPr>
          <p:cNvPr id="28" name="Shape 26"/>
          <p:cNvSpPr/>
          <p:nvPr/>
        </p:nvSpPr>
        <p:spPr>
          <a:xfrm>
            <a:off x="548640" y="5596128"/>
            <a:ext cx="914400" cy="548640"/>
          </a:xfrm>
          <a:prstGeom prst="roundRect">
            <a:avLst>
              <a:gd name="adj" fmla="val 10000"/>
            </a:avLst>
          </a:prstGeom>
          <a:solidFill>
            <a:srgbClr val="1E293B"/>
          </a:solidFill>
          <a:ln/>
        </p:spPr>
        <p:txBody>
          <a:bodyPr/>
          <a:lstStyle/>
          <a:p>
            <a:endParaRPr lang="en-US"/>
          </a:p>
        </p:txBody>
      </p:sp>
      <p:sp>
        <p:nvSpPr>
          <p:cNvPr id="29" name="Text 27"/>
          <p:cNvSpPr/>
          <p:nvPr/>
        </p:nvSpPr>
        <p:spPr>
          <a:xfrm>
            <a:off x="548640" y="5596128"/>
            <a:ext cx="91440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7:30</a:t>
            </a:r>
            <a:endParaRPr lang="en-US" sz="1300" dirty="0"/>
          </a:p>
        </p:txBody>
      </p:sp>
      <p:sp>
        <p:nvSpPr>
          <p:cNvPr id="30" name="Text 28"/>
          <p:cNvSpPr/>
          <p:nvPr/>
        </p:nvSpPr>
        <p:spPr>
          <a:xfrm>
            <a:off x="1645920" y="5596128"/>
            <a:ext cx="2377440" cy="5486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Close</a:t>
            </a:r>
            <a:endParaRPr lang="en-US" sz="1400" dirty="0"/>
          </a:p>
        </p:txBody>
      </p:sp>
      <p:sp>
        <p:nvSpPr>
          <p:cNvPr id="31" name="Text 29"/>
          <p:cNvSpPr/>
          <p:nvPr/>
        </p:nvSpPr>
        <p:spPr>
          <a:xfrm>
            <a:off x="4114800" y="5596128"/>
            <a:ext cx="7498080" cy="548640"/>
          </a:xfrm>
          <a:prstGeom prst="rect">
            <a:avLst/>
          </a:prstGeom>
          <a:noFill/>
          <a:ln/>
        </p:spPr>
        <p:txBody>
          <a:bodyPr wrap="square" rtlCol="0" anchor="ctr"/>
          <a:lstStyle/>
          <a:p>
            <a:pPr marL="0" indent="0">
              <a:lnSpc>
                <a:spcPct val="95000"/>
              </a:lnSpc>
              <a:buNone/>
            </a:pPr>
            <a:r>
              <a:rPr lang="en-US" sz="1200" dirty="0">
                <a:solidFill>
                  <a:srgbClr val="475569"/>
                </a:solidFill>
                <a:latin typeface="Calibri" pitchFamily="34" charset="0"/>
                <a:ea typeface="Calibri" pitchFamily="34" charset="-122"/>
                <a:cs typeface="Calibri" pitchFamily="34" charset="-120"/>
              </a:rPr>
              <a:t>"Upload today, insight today, and it stays current forever. What would you point it at first?"</a:t>
            </a:r>
            <a:endParaRPr lang="en-US" sz="1200" dirty="0"/>
          </a:p>
        </p:txBody>
      </p:sp>
      <p:sp>
        <p:nvSpPr>
          <p:cNvPr id="32" name="Text 30"/>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9</a:t>
            </a:r>
            <a:endParaRPr lang="en-US" sz="900" dirty="0"/>
          </a:p>
        </p:txBody>
      </p:sp>
      <p:sp>
        <p:nvSpPr>
          <p:cNvPr id="33" name="Text 31"/>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illustrates the end-to-end data flow process in InsightHub, starting from raw data ingestion, domain profiling, data transformation, data persistence, and history accumulation, to proactive alerts, serving marts, analytics, and executive insights, all while ensuring data governance and security through RBAC (Role-Based Access Control).&#10;&#10;AI-generated content may be incorrect.">
            <a:extLst>
              <a:ext uri="{FF2B5EF4-FFF2-40B4-BE49-F238E27FC236}">
                <a16:creationId xmlns:a16="http://schemas.microsoft.com/office/drawing/2014/main" id="{4ACC7F3E-EA74-94C3-6E2B-42D8F0DF7803}"/>
              </a:ext>
            </a:extLst>
          </p:cNvPr>
          <p:cNvPicPr>
            <a:picLocks noChangeAspect="1"/>
          </p:cNvPicPr>
          <p:nvPr/>
        </p:nvPicPr>
        <p:blipFill>
          <a:blip r:embed="rId2"/>
          <a:stretch>
            <a:fillRect/>
          </a:stretch>
        </p:blipFill>
        <p:spPr>
          <a:xfrm>
            <a:off x="1720808" y="0"/>
            <a:ext cx="8750384" cy="6858000"/>
          </a:xfrm>
          <a:prstGeom prst="rect">
            <a:avLst/>
          </a:prstGeom>
        </p:spPr>
      </p:pic>
    </p:spTree>
    <p:extLst>
      <p:ext uri="{BB962C8B-B14F-4D97-AF65-F5344CB8AC3E}">
        <p14:creationId xmlns:p14="http://schemas.microsoft.com/office/powerpoint/2010/main" val="3669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technical architecture diagram for InsightHub, an Al-Powered Data &amp; Analytics Platform, detailing various layers and components such as clients, APIs, governance, intelligence, and serving.&#10;&#10;AI-generated content may be incorrect.">
            <a:extLst>
              <a:ext uri="{FF2B5EF4-FFF2-40B4-BE49-F238E27FC236}">
                <a16:creationId xmlns:a16="http://schemas.microsoft.com/office/drawing/2014/main" id="{B60FA9A2-2C0C-8E90-3EDF-ABEDEC808EC8}"/>
              </a:ext>
            </a:extLst>
          </p:cNvPr>
          <p:cNvPicPr>
            <a:picLocks noChangeAspect="1"/>
          </p:cNvPicPr>
          <p:nvPr/>
        </p:nvPicPr>
        <p:blipFill>
          <a:blip r:embed="rId2"/>
          <a:stretch>
            <a:fillRect/>
          </a:stretch>
        </p:blipFill>
        <p:spPr>
          <a:xfrm>
            <a:off x="1408443" y="0"/>
            <a:ext cx="9375113" cy="6858000"/>
          </a:xfrm>
          <a:prstGeom prst="rect">
            <a:avLst/>
          </a:prstGeom>
        </p:spPr>
      </p:pic>
    </p:spTree>
    <p:extLst>
      <p:ext uri="{BB962C8B-B14F-4D97-AF65-F5344CB8AC3E}">
        <p14:creationId xmlns:p14="http://schemas.microsoft.com/office/powerpoint/2010/main" val="1566625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2563EB"/>
                </a:solidFill>
                <a:latin typeface="Calibri" pitchFamily="34" charset="0"/>
                <a:ea typeface="Calibri" pitchFamily="34" charset="-122"/>
                <a:cs typeface="Calibri" pitchFamily="34" charset="-120"/>
              </a:rPr>
              <a:t>WHO TO SELL TO</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Ideal customer &amp; use cases</a:t>
            </a:r>
            <a:endParaRPr lang="en-US" sz="3200" dirty="0"/>
          </a:p>
        </p:txBody>
      </p:sp>
      <p:sp>
        <p:nvSpPr>
          <p:cNvPr id="4" name="Shape 2"/>
          <p:cNvSpPr/>
          <p:nvPr/>
        </p:nvSpPr>
        <p:spPr>
          <a:xfrm>
            <a:off x="548640" y="1691640"/>
            <a:ext cx="5486400" cy="4206240"/>
          </a:xfrm>
          <a:prstGeom prst="roundRect">
            <a:avLst>
              <a:gd name="adj" fmla="val 1957"/>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5" name="Text 3"/>
          <p:cNvSpPr/>
          <p:nvPr/>
        </p:nvSpPr>
        <p:spPr>
          <a:xfrm>
            <a:off x="777240" y="1874520"/>
            <a:ext cx="5029200" cy="457200"/>
          </a:xfrm>
          <a:prstGeom prst="rect">
            <a:avLst/>
          </a:prstGeom>
          <a:noFill/>
          <a:ln/>
        </p:spPr>
        <p:txBody>
          <a:bodyPr wrap="square" rtlCol="0" anchor="ctr"/>
          <a:lstStyle/>
          <a:p>
            <a:pPr marL="0" indent="0">
              <a:buNone/>
            </a:pPr>
            <a:r>
              <a:rPr lang="en-US" sz="1800" b="1" dirty="0">
                <a:solidFill>
                  <a:srgbClr val="2563EB"/>
                </a:solidFill>
                <a:latin typeface="Calibri" pitchFamily="34" charset="0"/>
                <a:ea typeface="Calibri" pitchFamily="34" charset="-122"/>
                <a:cs typeface="Calibri" pitchFamily="34" charset="-120"/>
              </a:rPr>
              <a:t>Ideal Customer Profile</a:t>
            </a:r>
            <a:endParaRPr lang="en-US" sz="1800" dirty="0"/>
          </a:p>
        </p:txBody>
      </p:sp>
      <p:sp>
        <p:nvSpPr>
          <p:cNvPr id="6" name="Text 4"/>
          <p:cNvSpPr/>
          <p:nvPr/>
        </p:nvSpPr>
        <p:spPr>
          <a:xfrm>
            <a:off x="868680" y="2423160"/>
            <a:ext cx="4937760" cy="3291840"/>
          </a:xfrm>
          <a:prstGeom prst="rect">
            <a:avLst/>
          </a:prstGeom>
          <a:noFill/>
          <a:ln/>
        </p:spPr>
        <p:txBody>
          <a:bodyPr wrap="square" rtlCol="0" anchor="t"/>
          <a:lstStyle/>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SMB, roughly 5–200 employees, no dedicated data/BI team</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Owner/operator or ops/finance lead makes the decisions</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Data lives in exports: POS, e-commerce, accounting, ERP</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Already tried spreadsheets or a one-off ChatGPT analysis</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Verticals with clear metrics: pharmacy, retail, SaaS, services</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Values speed and simplicity over configurability</a:t>
            </a:r>
            <a:endParaRPr lang="en-US" sz="1350" dirty="0"/>
          </a:p>
        </p:txBody>
      </p:sp>
      <p:sp>
        <p:nvSpPr>
          <p:cNvPr id="7" name="Shape 5"/>
          <p:cNvSpPr/>
          <p:nvPr/>
        </p:nvSpPr>
        <p:spPr>
          <a:xfrm>
            <a:off x="6263640" y="1691640"/>
            <a:ext cx="5394960" cy="4206240"/>
          </a:xfrm>
          <a:prstGeom prst="roundRect">
            <a:avLst>
              <a:gd name="adj" fmla="val 1957"/>
            </a:avLst>
          </a:prstGeom>
          <a:solidFill>
            <a:srgbClr val="F0FDFA"/>
          </a:solidFill>
          <a:ln w="12700">
            <a:solidFill>
              <a:srgbClr val="0D9488"/>
            </a:solidFill>
            <a:prstDash val="solid"/>
          </a:ln>
          <a:effectLst>
            <a:outerShdw blurRad="63500" dist="25400" dir="5400000" algn="bl" rotWithShape="0">
              <a:srgbClr val="0F172A">
                <a:alpha val="16000"/>
              </a:srgbClr>
            </a:outerShdw>
          </a:effectLst>
        </p:spPr>
        <p:txBody>
          <a:bodyPr/>
          <a:lstStyle/>
          <a:p>
            <a:endParaRPr lang="en-US"/>
          </a:p>
        </p:txBody>
      </p:sp>
      <p:sp>
        <p:nvSpPr>
          <p:cNvPr id="8" name="Text 6"/>
          <p:cNvSpPr/>
          <p:nvPr/>
        </p:nvSpPr>
        <p:spPr>
          <a:xfrm>
            <a:off x="6492240" y="1874520"/>
            <a:ext cx="5029200" cy="457200"/>
          </a:xfrm>
          <a:prstGeom prst="rect">
            <a:avLst/>
          </a:prstGeom>
          <a:noFill/>
          <a:ln/>
        </p:spPr>
        <p:txBody>
          <a:bodyPr wrap="square" rtlCol="0" anchor="ctr"/>
          <a:lstStyle/>
          <a:p>
            <a:pPr marL="0" indent="0">
              <a:buNone/>
            </a:pPr>
            <a:r>
              <a:rPr lang="en-US" sz="1800" b="1" dirty="0">
                <a:solidFill>
                  <a:srgbClr val="0D9488"/>
                </a:solidFill>
                <a:latin typeface="Calibri" pitchFamily="34" charset="0"/>
                <a:ea typeface="Calibri" pitchFamily="34" charset="-122"/>
                <a:cs typeface="Calibri" pitchFamily="34" charset="-120"/>
              </a:rPr>
              <a:t>High-value use cases</a:t>
            </a:r>
            <a:endParaRPr lang="en-US" sz="1800" dirty="0"/>
          </a:p>
        </p:txBody>
      </p:sp>
      <p:sp>
        <p:nvSpPr>
          <p:cNvPr id="9" name="Text 7"/>
          <p:cNvSpPr/>
          <p:nvPr/>
        </p:nvSpPr>
        <p:spPr>
          <a:xfrm>
            <a:off x="6583680" y="2423160"/>
            <a:ext cx="4846320" cy="3291840"/>
          </a:xfrm>
          <a:prstGeom prst="rect">
            <a:avLst/>
          </a:prstGeom>
          <a:noFill/>
          <a:ln/>
        </p:spPr>
        <p:txBody>
          <a:bodyPr wrap="square" rtlCol="0" anchor="t"/>
          <a:lstStyle/>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"What happened last month?" — instant monthly review</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Margin &amp; cost leakage detection across products/branches</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Cash-flow visibility for owners without an accountant on staff</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Anomaly watch — get pinged when sales or costs move abnormally</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Multi-branch / multi-store comparison in one view</a:t>
            </a:r>
            <a:endParaRPr lang="en-US" sz="1350" dirty="0"/>
          </a:p>
          <a:p>
            <a:pPr marL="177800" indent="-177800">
              <a:lnSpc>
                <a:spcPct val="102000"/>
              </a:lnSpc>
              <a:spcAft>
                <a:spcPts val="900"/>
              </a:spcAft>
              <a:buSzPct val="100000"/>
              <a:buChar char="•"/>
            </a:pPr>
            <a:r>
              <a:rPr lang="en-US" sz="1350" dirty="0">
                <a:solidFill>
                  <a:srgbClr val="1E293B"/>
                </a:solidFill>
                <a:latin typeface="Calibri" pitchFamily="34" charset="0"/>
                <a:ea typeface="Calibri" pitchFamily="34" charset="-122"/>
                <a:cs typeface="Calibri" pitchFamily="34" charset="-120"/>
              </a:rPr>
              <a:t>Exec mobile snapshot for leaders who never open a dashboard</a:t>
            </a:r>
            <a:endParaRPr lang="en-US" sz="1350" dirty="0"/>
          </a:p>
        </p:txBody>
      </p:sp>
      <p:sp>
        <p:nvSpPr>
          <p:cNvPr id="10" name="Text 8"/>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10</a:t>
            </a:r>
            <a:endParaRPr lang="en-US" sz="900" dirty="0"/>
          </a:p>
        </p:txBody>
      </p:sp>
      <p:sp>
        <p:nvSpPr>
          <p:cNvPr id="11" name="Text 9"/>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059669"/>
                </a:solidFill>
                <a:latin typeface="Calibri" pitchFamily="34" charset="0"/>
                <a:ea typeface="Calibri" pitchFamily="34" charset="-122"/>
                <a:cs typeface="Calibri" pitchFamily="34" charset="-120"/>
              </a:rPr>
              <a:t>PRICING (INITIAL)</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Simple, value-based tiers</a:t>
            </a:r>
            <a:endParaRPr lang="en-US" sz="3200" dirty="0"/>
          </a:p>
        </p:txBody>
      </p:sp>
      <p:sp>
        <p:nvSpPr>
          <p:cNvPr id="4" name="Text 2"/>
          <p:cNvSpPr/>
          <p:nvPr/>
        </p:nvSpPr>
        <p:spPr>
          <a:xfrm>
            <a:off x="548640" y="1417320"/>
            <a:ext cx="10972800" cy="457200"/>
          </a:xfrm>
          <a:prstGeom prst="rect">
            <a:avLst/>
          </a:prstGeom>
          <a:noFill/>
          <a:ln/>
        </p:spPr>
        <p:txBody>
          <a:bodyPr wrap="square"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Starting framework — to be refined with real usage data. Priced on outcomes and limits (users, data volume, connectors), not seats alone.</a:t>
            </a:r>
            <a:endParaRPr lang="en-US" sz="1300" dirty="0"/>
          </a:p>
        </p:txBody>
      </p:sp>
      <p:sp>
        <p:nvSpPr>
          <p:cNvPr id="5" name="Shape 3"/>
          <p:cNvSpPr/>
          <p:nvPr/>
        </p:nvSpPr>
        <p:spPr>
          <a:xfrm>
            <a:off x="548640" y="2011680"/>
            <a:ext cx="3520440" cy="3840480"/>
          </a:xfrm>
          <a:prstGeom prst="roundRect">
            <a:avLst>
              <a:gd name="adj" fmla="val 2338"/>
            </a:avLst>
          </a:prstGeom>
          <a:solidFill>
            <a:srgbClr val="FFFFFF"/>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6" name="Text 4"/>
          <p:cNvSpPr/>
          <p:nvPr/>
        </p:nvSpPr>
        <p:spPr>
          <a:xfrm>
            <a:off x="822960" y="2212848"/>
            <a:ext cx="3017520" cy="457200"/>
          </a:xfrm>
          <a:prstGeom prst="rect">
            <a:avLst/>
          </a:prstGeom>
          <a:noFill/>
          <a:ln/>
        </p:spPr>
        <p:txBody>
          <a:bodyPr wrap="square" rtlCol="0" anchor="ctr"/>
          <a:lstStyle/>
          <a:p>
            <a:pPr marL="0" indent="0">
              <a:buNone/>
            </a:pPr>
            <a:r>
              <a:rPr lang="en-US" sz="1900" b="1" dirty="0">
                <a:solidFill>
                  <a:srgbClr val="1E293B"/>
                </a:solidFill>
                <a:latin typeface="Calibri" pitchFamily="34" charset="0"/>
                <a:ea typeface="Calibri" pitchFamily="34" charset="-122"/>
                <a:cs typeface="Calibri" pitchFamily="34" charset="-120"/>
              </a:rPr>
              <a:t>Starter</a:t>
            </a:r>
            <a:endParaRPr lang="en-US" sz="1900" dirty="0"/>
          </a:p>
        </p:txBody>
      </p:sp>
      <p:sp>
        <p:nvSpPr>
          <p:cNvPr id="7" name="Text 5"/>
          <p:cNvSpPr/>
          <p:nvPr/>
        </p:nvSpPr>
        <p:spPr>
          <a:xfrm>
            <a:off x="822960" y="2670048"/>
            <a:ext cx="3017520" cy="36576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For a single owner-operator</a:t>
            </a:r>
            <a:endParaRPr lang="en-US" sz="1150" dirty="0"/>
          </a:p>
        </p:txBody>
      </p:sp>
      <p:sp>
        <p:nvSpPr>
          <p:cNvPr id="8" name="Text 6"/>
          <p:cNvSpPr/>
          <p:nvPr/>
        </p:nvSpPr>
        <p:spPr>
          <a:xfrm>
            <a:off x="822960" y="2971800"/>
            <a:ext cx="3017520" cy="548640"/>
          </a:xfrm>
          <a:prstGeom prst="rect">
            <a:avLst/>
          </a:prstGeom>
          <a:noFill/>
          <a:ln/>
        </p:spPr>
        <p:txBody>
          <a:bodyPr wrap="square" rtlCol="0" anchor="ctr"/>
          <a:lstStyle/>
          <a:p>
            <a:pPr marL="0" indent="0">
              <a:buNone/>
            </a:pPr>
            <a:r>
              <a:rPr lang="en-US" sz="3000" b="1" dirty="0">
                <a:solidFill>
                  <a:srgbClr val="475569"/>
                </a:solidFill>
                <a:latin typeface="Calibri" pitchFamily="34" charset="0"/>
                <a:ea typeface="Calibri" pitchFamily="34" charset="-122"/>
                <a:cs typeface="Calibri" pitchFamily="34" charset="-120"/>
              </a:rPr>
              <a:t>$</a:t>
            </a:r>
            <a:endParaRPr lang="en-US" sz="3000" dirty="0"/>
          </a:p>
        </p:txBody>
      </p:sp>
      <p:sp>
        <p:nvSpPr>
          <p:cNvPr id="9" name="Text 7"/>
          <p:cNvSpPr/>
          <p:nvPr/>
        </p:nvSpPr>
        <p:spPr>
          <a:xfrm>
            <a:off x="841248" y="3657600"/>
            <a:ext cx="3063240" cy="2103120"/>
          </a:xfrm>
          <a:prstGeom prst="rect">
            <a:avLst/>
          </a:prstGeom>
          <a:noFill/>
          <a:ln/>
        </p:spPr>
        <p:txBody>
          <a:bodyPr wrap="square" rtlCol="0" anchor="t"/>
          <a:lstStyle/>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 domain / workspace</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Manual upload</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Core analytics + AI narrative</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Email alerts</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1–2 users</a:t>
            </a:r>
            <a:endParaRPr lang="en-US" sz="1200" dirty="0"/>
          </a:p>
        </p:txBody>
      </p:sp>
      <p:sp>
        <p:nvSpPr>
          <p:cNvPr id="10" name="Shape 8"/>
          <p:cNvSpPr/>
          <p:nvPr/>
        </p:nvSpPr>
        <p:spPr>
          <a:xfrm>
            <a:off x="4343400" y="2011680"/>
            <a:ext cx="3520440" cy="3840480"/>
          </a:xfrm>
          <a:prstGeom prst="roundRect">
            <a:avLst>
              <a:gd name="adj" fmla="val 2338"/>
            </a:avLst>
          </a:prstGeom>
          <a:solidFill>
            <a:srgbClr val="F0FDFA"/>
          </a:solidFill>
          <a:ln w="12700">
            <a:solidFill>
              <a:srgbClr val="0D9488"/>
            </a:solidFill>
            <a:prstDash val="solid"/>
          </a:ln>
          <a:effectLst>
            <a:outerShdw blurRad="63500" dist="25400" dir="5400000" algn="bl" rotWithShape="0">
              <a:srgbClr val="0F172A">
                <a:alpha val="16000"/>
              </a:srgbClr>
            </a:outerShdw>
          </a:effectLst>
        </p:spPr>
        <p:txBody>
          <a:bodyPr/>
          <a:lstStyle/>
          <a:p>
            <a:endParaRPr lang="en-US"/>
          </a:p>
        </p:txBody>
      </p:sp>
      <p:sp>
        <p:nvSpPr>
          <p:cNvPr id="11" name="Shape 9"/>
          <p:cNvSpPr/>
          <p:nvPr/>
        </p:nvSpPr>
        <p:spPr>
          <a:xfrm>
            <a:off x="4343400" y="2011680"/>
            <a:ext cx="3520440" cy="3840480"/>
          </a:xfrm>
          <a:prstGeom prst="roundRect">
            <a:avLst>
              <a:gd name="adj" fmla="val 2338"/>
            </a:avLst>
          </a:prstGeom>
          <a:ln w="31750">
            <a:solidFill>
              <a:srgbClr val="0D9488"/>
            </a:solidFill>
            <a:prstDash val="solid"/>
          </a:ln>
        </p:spPr>
        <p:txBody>
          <a:bodyPr/>
          <a:lstStyle/>
          <a:p>
            <a:endParaRPr lang="en-US"/>
          </a:p>
        </p:txBody>
      </p:sp>
      <p:sp>
        <p:nvSpPr>
          <p:cNvPr id="12" name="Shape 10"/>
          <p:cNvSpPr/>
          <p:nvPr/>
        </p:nvSpPr>
        <p:spPr>
          <a:xfrm>
            <a:off x="5394960" y="1828800"/>
            <a:ext cx="1417320" cy="384048"/>
          </a:xfrm>
          <a:prstGeom prst="roundRect">
            <a:avLst>
              <a:gd name="adj" fmla="val 23810"/>
            </a:avLst>
          </a:prstGeom>
          <a:solidFill>
            <a:srgbClr val="0D9488"/>
          </a:solidFill>
          <a:ln/>
        </p:spPr>
        <p:txBody>
          <a:bodyPr/>
          <a:lstStyle/>
          <a:p>
            <a:endParaRPr lang="en-US"/>
          </a:p>
        </p:txBody>
      </p:sp>
      <p:sp>
        <p:nvSpPr>
          <p:cNvPr id="13" name="Text 11"/>
          <p:cNvSpPr/>
          <p:nvPr/>
        </p:nvSpPr>
        <p:spPr>
          <a:xfrm>
            <a:off x="5394960" y="1828800"/>
            <a:ext cx="1417320" cy="384048"/>
          </a:xfrm>
          <a:prstGeom prst="rect">
            <a:avLst/>
          </a:prstGeom>
          <a:noFill/>
          <a:ln/>
        </p:spPr>
        <p:txBody>
          <a:bodyPr wrap="square"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POPULAR</a:t>
            </a:r>
            <a:endParaRPr lang="en-US" sz="950" dirty="0"/>
          </a:p>
        </p:txBody>
      </p:sp>
      <p:sp>
        <p:nvSpPr>
          <p:cNvPr id="14" name="Text 12"/>
          <p:cNvSpPr/>
          <p:nvPr/>
        </p:nvSpPr>
        <p:spPr>
          <a:xfrm>
            <a:off x="4617720" y="2212848"/>
            <a:ext cx="3017520" cy="457200"/>
          </a:xfrm>
          <a:prstGeom prst="rect">
            <a:avLst/>
          </a:prstGeom>
          <a:noFill/>
          <a:ln/>
        </p:spPr>
        <p:txBody>
          <a:bodyPr wrap="square" rtlCol="0" anchor="ctr"/>
          <a:lstStyle/>
          <a:p>
            <a:pPr marL="0" indent="0">
              <a:buNone/>
            </a:pPr>
            <a:r>
              <a:rPr lang="en-US" sz="1900" b="1" dirty="0">
                <a:solidFill>
                  <a:srgbClr val="0D9488"/>
                </a:solidFill>
                <a:latin typeface="Calibri" pitchFamily="34" charset="0"/>
                <a:ea typeface="Calibri" pitchFamily="34" charset="-122"/>
                <a:cs typeface="Calibri" pitchFamily="34" charset="-120"/>
              </a:rPr>
              <a:t>Growth</a:t>
            </a:r>
            <a:endParaRPr lang="en-US" sz="1900" dirty="0"/>
          </a:p>
        </p:txBody>
      </p:sp>
      <p:sp>
        <p:nvSpPr>
          <p:cNvPr id="15" name="Text 13"/>
          <p:cNvSpPr/>
          <p:nvPr/>
        </p:nvSpPr>
        <p:spPr>
          <a:xfrm>
            <a:off x="4617720" y="2670048"/>
            <a:ext cx="3017520" cy="36576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For a growing SMB team</a:t>
            </a:r>
            <a:endParaRPr lang="en-US" sz="1150" dirty="0"/>
          </a:p>
        </p:txBody>
      </p:sp>
      <p:sp>
        <p:nvSpPr>
          <p:cNvPr id="16" name="Text 14"/>
          <p:cNvSpPr/>
          <p:nvPr/>
        </p:nvSpPr>
        <p:spPr>
          <a:xfrm>
            <a:off x="4617720" y="2971800"/>
            <a:ext cx="3017520" cy="548640"/>
          </a:xfrm>
          <a:prstGeom prst="rect">
            <a:avLst/>
          </a:prstGeom>
          <a:noFill/>
          <a:ln/>
        </p:spPr>
        <p:txBody>
          <a:bodyPr wrap="square" rtlCol="0" anchor="ctr"/>
          <a:lstStyle/>
          <a:p>
            <a:pPr marL="0" indent="0">
              <a:buNone/>
            </a:pPr>
            <a:r>
              <a:rPr lang="en-US" sz="3000" b="1" dirty="0">
                <a:solidFill>
                  <a:srgbClr val="0D9488"/>
                </a:solidFill>
                <a:latin typeface="Calibri" pitchFamily="34" charset="0"/>
                <a:ea typeface="Calibri" pitchFamily="34" charset="-122"/>
                <a:cs typeface="Calibri" pitchFamily="34" charset="-120"/>
              </a:rPr>
              <a:t>$$</a:t>
            </a:r>
            <a:endParaRPr lang="en-US" sz="3000" dirty="0"/>
          </a:p>
        </p:txBody>
      </p:sp>
      <p:sp>
        <p:nvSpPr>
          <p:cNvPr id="17" name="Text 15"/>
          <p:cNvSpPr/>
          <p:nvPr/>
        </p:nvSpPr>
        <p:spPr>
          <a:xfrm>
            <a:off x="4636008" y="3657600"/>
            <a:ext cx="3063240" cy="2103120"/>
          </a:xfrm>
          <a:prstGeom prst="rect">
            <a:avLst/>
          </a:prstGeom>
          <a:noFill/>
          <a:ln/>
        </p:spPr>
        <p:txBody>
          <a:bodyPr wrap="square" rtlCol="0" anchor="t"/>
          <a:lstStyle/>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Multi-domain + ad hoc playground</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Scheduled connectors</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Full AI Q&amp;A + anomaly alerts</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WhatsApp / SMS / Slack</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Up to ~10 users, RBAC</a:t>
            </a:r>
            <a:endParaRPr lang="en-US" sz="1200" dirty="0"/>
          </a:p>
        </p:txBody>
      </p:sp>
      <p:sp>
        <p:nvSpPr>
          <p:cNvPr id="18" name="Shape 16"/>
          <p:cNvSpPr/>
          <p:nvPr/>
        </p:nvSpPr>
        <p:spPr>
          <a:xfrm>
            <a:off x="8138160" y="2011680"/>
            <a:ext cx="3520440" cy="3840480"/>
          </a:xfrm>
          <a:prstGeom prst="roundRect">
            <a:avLst>
              <a:gd name="adj" fmla="val 2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9" name="Text 17"/>
          <p:cNvSpPr/>
          <p:nvPr/>
        </p:nvSpPr>
        <p:spPr>
          <a:xfrm>
            <a:off x="8412480" y="2212848"/>
            <a:ext cx="3017520" cy="457200"/>
          </a:xfrm>
          <a:prstGeom prst="rect">
            <a:avLst/>
          </a:prstGeom>
          <a:noFill/>
          <a:ln/>
        </p:spPr>
        <p:txBody>
          <a:bodyPr wrap="square" rtlCol="0" anchor="ctr"/>
          <a:lstStyle/>
          <a:p>
            <a:pPr marL="0" indent="0">
              <a:buNone/>
            </a:pPr>
            <a:r>
              <a:rPr lang="en-US" sz="1900" b="1" dirty="0">
                <a:solidFill>
                  <a:srgbClr val="1E293B"/>
                </a:solidFill>
                <a:latin typeface="Calibri" pitchFamily="34" charset="0"/>
                <a:ea typeface="Calibri" pitchFamily="34" charset="-122"/>
                <a:cs typeface="Calibri" pitchFamily="34" charset="-120"/>
              </a:rPr>
              <a:t>Scale / Enterprise</a:t>
            </a:r>
            <a:endParaRPr lang="en-US" sz="1900" dirty="0"/>
          </a:p>
        </p:txBody>
      </p:sp>
      <p:sp>
        <p:nvSpPr>
          <p:cNvPr id="20" name="Text 18"/>
          <p:cNvSpPr/>
          <p:nvPr/>
        </p:nvSpPr>
        <p:spPr>
          <a:xfrm>
            <a:off x="8412480" y="2670048"/>
            <a:ext cx="3017520" cy="365760"/>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For multi-branch &amp; regulated</a:t>
            </a:r>
            <a:endParaRPr lang="en-US" sz="1150" dirty="0"/>
          </a:p>
        </p:txBody>
      </p:sp>
      <p:sp>
        <p:nvSpPr>
          <p:cNvPr id="21" name="Text 19"/>
          <p:cNvSpPr/>
          <p:nvPr/>
        </p:nvSpPr>
        <p:spPr>
          <a:xfrm>
            <a:off x="8412480" y="2971800"/>
            <a:ext cx="3017520" cy="548640"/>
          </a:xfrm>
          <a:prstGeom prst="rect">
            <a:avLst/>
          </a:prstGeom>
          <a:noFill/>
          <a:ln/>
        </p:spPr>
        <p:txBody>
          <a:bodyPr wrap="square"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a:t>
            </a:r>
            <a:endParaRPr lang="en-US" sz="3000" dirty="0"/>
          </a:p>
        </p:txBody>
      </p:sp>
      <p:sp>
        <p:nvSpPr>
          <p:cNvPr id="22" name="Text 20"/>
          <p:cNvSpPr/>
          <p:nvPr/>
        </p:nvSpPr>
        <p:spPr>
          <a:xfrm>
            <a:off x="8430768" y="3657600"/>
            <a:ext cx="3063240" cy="2103120"/>
          </a:xfrm>
          <a:prstGeom prst="rect">
            <a:avLst/>
          </a:prstGeom>
          <a:noFill/>
          <a:ln/>
        </p:spPr>
        <p:txBody>
          <a:bodyPr wrap="square" rtlCol="0" anchor="t"/>
          <a:lstStyle/>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Everything in Growth</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BYO paid LLM + data residency</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SSO, advanced RBAC, audit</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SOC 2 / HIPAA posture</a:t>
            </a:r>
            <a:endParaRPr lang="en-US" sz="1200" dirty="0"/>
          </a:p>
          <a:p>
            <a:pPr marL="177800" indent="-177800">
              <a:lnSpc>
                <a:spcPct val="102000"/>
              </a:lnSpc>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support + SLA</a:t>
            </a:r>
            <a:endParaRPr lang="en-US" sz="1200" dirty="0"/>
          </a:p>
        </p:txBody>
      </p:sp>
      <p:sp>
        <p:nvSpPr>
          <p:cNvPr id="23" name="Text 21"/>
          <p:cNvSpPr/>
          <p:nvPr/>
        </p:nvSpPr>
        <p:spPr>
          <a:xfrm>
            <a:off x="548640" y="6035040"/>
            <a:ext cx="10972800" cy="36576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Free trial / freemium entry recommended to drive self-serve activation before sales touch.</a:t>
            </a:r>
            <a:endParaRPr lang="en-US" sz="1200" dirty="0"/>
          </a:p>
        </p:txBody>
      </p:sp>
      <p:sp>
        <p:nvSpPr>
          <p:cNvPr id="24" name="Text 22"/>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11</a:t>
            </a:r>
            <a:endParaRPr lang="en-US" sz="900" dirty="0"/>
          </a:p>
        </p:txBody>
      </p:sp>
      <p:sp>
        <p:nvSpPr>
          <p:cNvPr id="25" name="Text 23"/>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93C5FD"/>
                </a:solidFill>
                <a:latin typeface="Calibri" pitchFamily="34" charset="0"/>
                <a:ea typeface="Calibri" pitchFamily="34" charset="-122"/>
                <a:cs typeface="Calibri" pitchFamily="34" charset="-120"/>
              </a:rPr>
              <a:t>GO-TO-MARKET</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we reach and convert SMBs</a:t>
            </a:r>
            <a:endParaRPr lang="en-US" sz="3000" dirty="0"/>
          </a:p>
        </p:txBody>
      </p:sp>
      <p:sp>
        <p:nvSpPr>
          <p:cNvPr id="4" name="Shape 2"/>
          <p:cNvSpPr/>
          <p:nvPr/>
        </p:nvSpPr>
        <p:spPr>
          <a:xfrm>
            <a:off x="548640" y="2103120"/>
            <a:ext cx="2606040" cy="3383280"/>
          </a:xfrm>
          <a:prstGeom prst="roundRect">
            <a:avLst>
              <a:gd name="adj" fmla="val 3158"/>
            </a:avLst>
          </a:prstGeom>
          <a:solidFill>
            <a:srgbClr val="0F172A"/>
          </a:solidFill>
          <a:ln w="12700">
            <a:solidFill>
              <a:srgbClr val="2563EB"/>
            </a:solidFill>
            <a:prstDash val="solid"/>
          </a:ln>
        </p:spPr>
        <p:txBody>
          <a:bodyPr/>
          <a:lstStyle/>
          <a:p>
            <a:endParaRPr lang="en-US"/>
          </a:p>
        </p:txBody>
      </p:sp>
      <p:sp>
        <p:nvSpPr>
          <p:cNvPr id="5" name="Text 3"/>
          <p:cNvSpPr/>
          <p:nvPr/>
        </p:nvSpPr>
        <p:spPr>
          <a:xfrm>
            <a:off x="749808" y="2286000"/>
            <a:ext cx="2286000" cy="457200"/>
          </a:xfrm>
          <a:prstGeom prst="rect">
            <a:avLst/>
          </a:prstGeom>
          <a:noFill/>
          <a:ln/>
        </p:spPr>
        <p:txBody>
          <a:bodyPr wrap="square" rtlCol="0" anchor="ctr"/>
          <a:lstStyle/>
          <a:p>
            <a:pPr marL="0" indent="0">
              <a:buNone/>
            </a:pPr>
            <a:r>
              <a:rPr lang="en-US" sz="1600" b="1" dirty="0">
                <a:solidFill>
                  <a:srgbClr val="2563EB"/>
                </a:solidFill>
                <a:latin typeface="Calibri" pitchFamily="34" charset="0"/>
                <a:ea typeface="Calibri" pitchFamily="34" charset="-122"/>
                <a:cs typeface="Calibri" pitchFamily="34" charset="-120"/>
              </a:rPr>
              <a:t>1 · Land</a:t>
            </a:r>
            <a:endParaRPr lang="en-US" sz="1600" dirty="0"/>
          </a:p>
        </p:txBody>
      </p:sp>
      <p:sp>
        <p:nvSpPr>
          <p:cNvPr id="6" name="Text 4"/>
          <p:cNvSpPr/>
          <p:nvPr/>
        </p:nvSpPr>
        <p:spPr>
          <a:xfrm>
            <a:off x="749808" y="2743200"/>
            <a:ext cx="228600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Product-led</a:t>
            </a:r>
            <a:endParaRPr lang="en-US" sz="1250" dirty="0"/>
          </a:p>
        </p:txBody>
      </p:sp>
      <p:sp>
        <p:nvSpPr>
          <p:cNvPr id="7" name="Text 5"/>
          <p:cNvSpPr/>
          <p:nvPr/>
        </p:nvSpPr>
        <p:spPr>
          <a:xfrm>
            <a:off x="749808" y="3200400"/>
            <a:ext cx="2286000" cy="2194560"/>
          </a:xfrm>
          <a:prstGeom prst="rect">
            <a:avLst/>
          </a:prstGeom>
          <a:noFill/>
          <a:ln/>
        </p:spPr>
        <p:txBody>
          <a:bodyPr wrap="square" rtlCol="0" anchor="t"/>
          <a:lstStyle/>
          <a:p>
            <a:pPr marL="0" indent="0">
              <a:lnSpc>
                <a:spcPct val="108000"/>
              </a:lnSpc>
              <a:buNone/>
            </a:pPr>
            <a:r>
              <a:rPr lang="en-US" sz="1200" dirty="0">
                <a:solidFill>
                  <a:srgbClr val="CBD5E1"/>
                </a:solidFill>
                <a:latin typeface="Calibri" pitchFamily="34" charset="0"/>
                <a:ea typeface="Calibri" pitchFamily="34" charset="-122"/>
                <a:cs typeface="Calibri" pitchFamily="34" charset="-120"/>
              </a:rPr>
              <a:t>Free trial / freemium. Self-serve upload → first insight in minutes is the activation moment. Instrument it heavily.</a:t>
            </a:r>
            <a:endParaRPr lang="en-US" sz="1200" dirty="0"/>
          </a:p>
        </p:txBody>
      </p:sp>
      <p:sp>
        <p:nvSpPr>
          <p:cNvPr id="8" name="Shape 6"/>
          <p:cNvSpPr/>
          <p:nvPr/>
        </p:nvSpPr>
        <p:spPr>
          <a:xfrm>
            <a:off x="3364992" y="2103120"/>
            <a:ext cx="2606040" cy="3383280"/>
          </a:xfrm>
          <a:prstGeom prst="roundRect">
            <a:avLst>
              <a:gd name="adj" fmla="val 3158"/>
            </a:avLst>
          </a:prstGeom>
          <a:solidFill>
            <a:srgbClr val="0F172A"/>
          </a:solidFill>
          <a:ln w="12700">
            <a:solidFill>
              <a:srgbClr val="0D9488"/>
            </a:solidFill>
            <a:prstDash val="solid"/>
          </a:ln>
        </p:spPr>
        <p:txBody>
          <a:bodyPr/>
          <a:lstStyle/>
          <a:p>
            <a:endParaRPr lang="en-US"/>
          </a:p>
        </p:txBody>
      </p:sp>
      <p:sp>
        <p:nvSpPr>
          <p:cNvPr id="9" name="Text 7"/>
          <p:cNvSpPr/>
          <p:nvPr/>
        </p:nvSpPr>
        <p:spPr>
          <a:xfrm>
            <a:off x="3566160" y="2286000"/>
            <a:ext cx="2286000" cy="457200"/>
          </a:xfrm>
          <a:prstGeom prst="rect">
            <a:avLst/>
          </a:prstGeom>
          <a:noFill/>
          <a:ln/>
        </p:spPr>
        <p:txBody>
          <a:bodyPr wrap="square"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2 · Prove</a:t>
            </a:r>
            <a:endParaRPr lang="en-US" sz="1600" dirty="0"/>
          </a:p>
        </p:txBody>
      </p:sp>
      <p:sp>
        <p:nvSpPr>
          <p:cNvPr id="10" name="Text 8"/>
          <p:cNvSpPr/>
          <p:nvPr/>
        </p:nvSpPr>
        <p:spPr>
          <a:xfrm>
            <a:off x="3566160" y="2743200"/>
            <a:ext cx="228600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Vertical wedges</a:t>
            </a:r>
            <a:endParaRPr lang="en-US" sz="1250" dirty="0"/>
          </a:p>
        </p:txBody>
      </p:sp>
      <p:sp>
        <p:nvSpPr>
          <p:cNvPr id="11" name="Text 9"/>
          <p:cNvSpPr/>
          <p:nvPr/>
        </p:nvSpPr>
        <p:spPr>
          <a:xfrm>
            <a:off x="3566160" y="3200400"/>
            <a:ext cx="2286000" cy="2194560"/>
          </a:xfrm>
          <a:prstGeom prst="rect">
            <a:avLst/>
          </a:prstGeom>
          <a:noFill/>
          <a:ln/>
        </p:spPr>
        <p:txBody>
          <a:bodyPr wrap="square" rtlCol="0" anchor="t"/>
          <a:lstStyle/>
          <a:p>
            <a:pPr marL="0" indent="0">
              <a:lnSpc>
                <a:spcPct val="108000"/>
              </a:lnSpc>
              <a:buNone/>
            </a:pPr>
            <a:r>
              <a:rPr lang="en-US" sz="1200" dirty="0">
                <a:solidFill>
                  <a:srgbClr val="CBD5E1"/>
                </a:solidFill>
                <a:latin typeface="Calibri" pitchFamily="34" charset="0"/>
                <a:ea typeface="Calibri" pitchFamily="34" charset="-122"/>
                <a:cs typeface="Calibri" pitchFamily="34" charset="-120"/>
              </a:rPr>
              <a:t>Pick 1–2 verticals (e.g., pharmacy, retail) where domain-tuning shines. Templated demos + case studies per vertical.</a:t>
            </a:r>
            <a:endParaRPr lang="en-US" sz="1200" dirty="0"/>
          </a:p>
        </p:txBody>
      </p:sp>
      <p:sp>
        <p:nvSpPr>
          <p:cNvPr id="12" name="Shape 10"/>
          <p:cNvSpPr/>
          <p:nvPr/>
        </p:nvSpPr>
        <p:spPr>
          <a:xfrm>
            <a:off x="6181344" y="2103120"/>
            <a:ext cx="2606040" cy="3383280"/>
          </a:xfrm>
          <a:prstGeom prst="roundRect">
            <a:avLst>
              <a:gd name="adj" fmla="val 3158"/>
            </a:avLst>
          </a:prstGeom>
          <a:solidFill>
            <a:srgbClr val="0F172A"/>
          </a:solidFill>
          <a:ln w="12700">
            <a:solidFill>
              <a:srgbClr val="D97706"/>
            </a:solidFill>
            <a:prstDash val="solid"/>
          </a:ln>
        </p:spPr>
        <p:txBody>
          <a:bodyPr/>
          <a:lstStyle/>
          <a:p>
            <a:endParaRPr lang="en-US"/>
          </a:p>
        </p:txBody>
      </p:sp>
      <p:sp>
        <p:nvSpPr>
          <p:cNvPr id="13" name="Text 11"/>
          <p:cNvSpPr/>
          <p:nvPr/>
        </p:nvSpPr>
        <p:spPr>
          <a:xfrm>
            <a:off x="6382512" y="2286000"/>
            <a:ext cx="2286000" cy="457200"/>
          </a:xfrm>
          <a:prstGeom prst="rect">
            <a:avLst/>
          </a:prstGeom>
          <a:noFill/>
          <a:ln/>
        </p:spPr>
        <p:txBody>
          <a:bodyPr wrap="square" rtlCol="0" anchor="ctr"/>
          <a:lstStyle/>
          <a:p>
            <a:pPr marL="0" indent="0">
              <a:buNone/>
            </a:pPr>
            <a:r>
              <a:rPr lang="en-US" sz="1600" b="1" dirty="0">
                <a:solidFill>
                  <a:srgbClr val="D97706"/>
                </a:solidFill>
                <a:latin typeface="Calibri" pitchFamily="34" charset="0"/>
                <a:ea typeface="Calibri" pitchFamily="34" charset="-122"/>
                <a:cs typeface="Calibri" pitchFamily="34" charset="-120"/>
              </a:rPr>
              <a:t>3 · Expand</a:t>
            </a:r>
            <a:endParaRPr lang="en-US" sz="1600" dirty="0"/>
          </a:p>
        </p:txBody>
      </p:sp>
      <p:sp>
        <p:nvSpPr>
          <p:cNvPr id="14" name="Text 12"/>
          <p:cNvSpPr/>
          <p:nvPr/>
        </p:nvSpPr>
        <p:spPr>
          <a:xfrm>
            <a:off x="6382512" y="2743200"/>
            <a:ext cx="228600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Usage → paid</a:t>
            </a:r>
            <a:endParaRPr lang="en-US" sz="1250" dirty="0"/>
          </a:p>
        </p:txBody>
      </p:sp>
      <p:sp>
        <p:nvSpPr>
          <p:cNvPr id="15" name="Text 13"/>
          <p:cNvSpPr/>
          <p:nvPr/>
        </p:nvSpPr>
        <p:spPr>
          <a:xfrm>
            <a:off x="6382512" y="3200400"/>
            <a:ext cx="2286000" cy="2194560"/>
          </a:xfrm>
          <a:prstGeom prst="rect">
            <a:avLst/>
          </a:prstGeom>
          <a:noFill/>
          <a:ln/>
        </p:spPr>
        <p:txBody>
          <a:bodyPr wrap="square" rtlCol="0" anchor="t"/>
          <a:lstStyle/>
          <a:p>
            <a:pPr marL="0" indent="0">
              <a:lnSpc>
                <a:spcPct val="108000"/>
              </a:lnSpc>
              <a:buNone/>
            </a:pPr>
            <a:r>
              <a:rPr lang="en-US" sz="1200" dirty="0">
                <a:solidFill>
                  <a:srgbClr val="CBD5E1"/>
                </a:solidFill>
                <a:latin typeface="Calibri" pitchFamily="34" charset="0"/>
                <a:ea typeface="Calibri" pitchFamily="34" charset="-122"/>
                <a:cs typeface="Calibri" pitchFamily="34" charset="-120"/>
              </a:rPr>
              <a:t>Meter usage; nudge to paid at plan limits. Land on one workspace, expand to more domains / users / connectors.</a:t>
            </a:r>
            <a:endParaRPr lang="en-US" sz="1200" dirty="0"/>
          </a:p>
        </p:txBody>
      </p:sp>
      <p:sp>
        <p:nvSpPr>
          <p:cNvPr id="16" name="Shape 14"/>
          <p:cNvSpPr/>
          <p:nvPr/>
        </p:nvSpPr>
        <p:spPr>
          <a:xfrm>
            <a:off x="8997696" y="2103120"/>
            <a:ext cx="2606040" cy="3383280"/>
          </a:xfrm>
          <a:prstGeom prst="roundRect">
            <a:avLst>
              <a:gd name="adj" fmla="val 3158"/>
            </a:avLst>
          </a:prstGeom>
          <a:solidFill>
            <a:srgbClr val="0F172A"/>
          </a:solidFill>
          <a:ln w="12700">
            <a:solidFill>
              <a:srgbClr val="7C3AED"/>
            </a:solidFill>
            <a:prstDash val="solid"/>
          </a:ln>
        </p:spPr>
        <p:txBody>
          <a:bodyPr/>
          <a:lstStyle/>
          <a:p>
            <a:endParaRPr lang="en-US"/>
          </a:p>
        </p:txBody>
      </p:sp>
      <p:sp>
        <p:nvSpPr>
          <p:cNvPr id="17" name="Text 15"/>
          <p:cNvSpPr/>
          <p:nvPr/>
        </p:nvSpPr>
        <p:spPr>
          <a:xfrm>
            <a:off x="9198864" y="2286000"/>
            <a:ext cx="228600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4 · Trust</a:t>
            </a:r>
            <a:endParaRPr lang="en-US" sz="1600" dirty="0"/>
          </a:p>
        </p:txBody>
      </p:sp>
      <p:sp>
        <p:nvSpPr>
          <p:cNvPr id="18" name="Text 16"/>
          <p:cNvSpPr/>
          <p:nvPr/>
        </p:nvSpPr>
        <p:spPr>
          <a:xfrm>
            <a:off x="9198864" y="2743200"/>
            <a:ext cx="228600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Enterprise-enable</a:t>
            </a:r>
            <a:endParaRPr lang="en-US" sz="1250" dirty="0"/>
          </a:p>
        </p:txBody>
      </p:sp>
      <p:sp>
        <p:nvSpPr>
          <p:cNvPr id="19" name="Text 17"/>
          <p:cNvSpPr/>
          <p:nvPr/>
        </p:nvSpPr>
        <p:spPr>
          <a:xfrm>
            <a:off x="9198864" y="3200400"/>
            <a:ext cx="2286000" cy="2194560"/>
          </a:xfrm>
          <a:prstGeom prst="rect">
            <a:avLst/>
          </a:prstGeom>
          <a:noFill/>
          <a:ln/>
        </p:spPr>
        <p:txBody>
          <a:bodyPr wrap="square" rtlCol="0" anchor="t"/>
          <a:lstStyle/>
          <a:p>
            <a:pPr marL="0" indent="0">
              <a:lnSpc>
                <a:spcPct val="108000"/>
              </a:lnSpc>
              <a:buNone/>
            </a:pPr>
            <a:r>
              <a:rPr lang="en-US" sz="1200" dirty="0">
                <a:solidFill>
                  <a:srgbClr val="CBD5E1"/>
                </a:solidFill>
                <a:latin typeface="Calibri" pitchFamily="34" charset="0"/>
                <a:ea typeface="Calibri" pitchFamily="34" charset="-122"/>
                <a:cs typeface="Calibri" pitchFamily="34" charset="-120"/>
              </a:rPr>
              <a:t>SOC 2 + RBAC + BYO-LLM unlock larger, multi-branch and regulated buyers as references accumulate.</a:t>
            </a:r>
            <a:endParaRPr lang="en-US" sz="1200" dirty="0"/>
          </a:p>
        </p:txBody>
      </p:sp>
      <p:sp>
        <p:nvSpPr>
          <p:cNvPr id="20" name="Text 18"/>
          <p:cNvSpPr/>
          <p:nvPr/>
        </p:nvSpPr>
        <p:spPr>
          <a:xfrm>
            <a:off x="548640" y="5715000"/>
            <a:ext cx="10972800" cy="548640"/>
          </a:xfrm>
          <a:prstGeom prst="rect">
            <a:avLst/>
          </a:prstGeom>
          <a:noFill/>
          <a:ln/>
        </p:spPr>
        <p:txBody>
          <a:bodyPr wrap="square" rtlCol="0" anchor="ctr"/>
          <a:lstStyle/>
          <a:p>
            <a:pPr marL="0" indent="0">
              <a:buNone/>
            </a:pPr>
            <a:r>
              <a:rPr lang="en-US" sz="1250" i="1" dirty="0">
                <a:solidFill>
                  <a:srgbClr val="93C5FD"/>
                </a:solidFill>
                <a:latin typeface="Calibri" pitchFamily="34" charset="0"/>
                <a:ea typeface="Calibri" pitchFamily="34" charset="-122"/>
                <a:cs typeface="Calibri" pitchFamily="34" charset="-120"/>
              </a:rPr>
              <a:t>Channels: content + SEO on 'X analytics without a data team', vertical communities, POS/accounting marketplace listings, partner referrals.</a:t>
            </a:r>
            <a:endParaRPr lang="en-US" sz="1250" dirty="0"/>
          </a:p>
        </p:txBody>
      </p:sp>
      <p:sp>
        <p:nvSpPr>
          <p:cNvPr id="21" name="Text 19"/>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rtlCol="0" anchor="ctr"/>
          <a:lstStyle/>
          <a:p>
            <a:pPr marL="0" indent="0">
              <a:buNone/>
            </a:pPr>
            <a:r>
              <a:rPr lang="en-US" sz="1200" b="1" kern="0" spc="200" dirty="0">
                <a:solidFill>
                  <a:srgbClr val="DC2626"/>
                </a:solidFill>
                <a:latin typeface="Calibri" pitchFamily="34" charset="0"/>
                <a:ea typeface="Calibri" pitchFamily="34" charset="-122"/>
                <a:cs typeface="Calibri" pitchFamily="34" charset="-120"/>
              </a:rPr>
              <a:t>OBJECTION HANDLING</a:t>
            </a:r>
            <a:endParaRPr lang="en-US" sz="1200" dirty="0"/>
          </a:p>
        </p:txBody>
      </p:sp>
      <p:sp>
        <p:nvSpPr>
          <p:cNvPr id="3" name="Text 1"/>
          <p:cNvSpPr/>
          <p:nvPr/>
        </p:nvSpPr>
        <p:spPr>
          <a:xfrm>
            <a:off x="548640" y="749808"/>
            <a:ext cx="10972800" cy="82296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Answers to the questions you'll get</a:t>
            </a:r>
            <a:endParaRPr lang="en-US" sz="3200" dirty="0"/>
          </a:p>
        </p:txBody>
      </p:sp>
      <p:sp>
        <p:nvSpPr>
          <p:cNvPr id="4" name="Shape 2"/>
          <p:cNvSpPr/>
          <p:nvPr/>
        </p:nvSpPr>
        <p:spPr>
          <a:xfrm>
            <a:off x="548640" y="164592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5" name="Shape 3"/>
          <p:cNvSpPr/>
          <p:nvPr/>
        </p:nvSpPr>
        <p:spPr>
          <a:xfrm>
            <a:off x="548640" y="1645920"/>
            <a:ext cx="118872" cy="1298448"/>
          </a:xfrm>
          <a:prstGeom prst="roundRect">
            <a:avLst>
              <a:gd name="adj" fmla="val 15385"/>
            </a:avLst>
          </a:prstGeom>
          <a:solidFill>
            <a:srgbClr val="7C3AED"/>
          </a:solidFill>
          <a:ln/>
        </p:spPr>
        <p:txBody>
          <a:bodyPr/>
          <a:lstStyle/>
          <a:p>
            <a:endParaRPr lang="en-US"/>
          </a:p>
        </p:txBody>
      </p:sp>
      <p:sp>
        <p:nvSpPr>
          <p:cNvPr id="6" name="Text 4"/>
          <p:cNvSpPr/>
          <p:nvPr/>
        </p:nvSpPr>
        <p:spPr>
          <a:xfrm>
            <a:off x="841248" y="1755648"/>
            <a:ext cx="4937760" cy="36576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"Why not just use ChatGPT / Claude?"</a:t>
            </a:r>
            <a:endParaRPr lang="en-US" sz="1300" dirty="0"/>
          </a:p>
        </p:txBody>
      </p:sp>
      <p:sp>
        <p:nvSpPr>
          <p:cNvPr id="7" name="Text 5"/>
          <p:cNvSpPr/>
          <p:nvPr/>
        </p:nvSpPr>
        <p:spPr>
          <a:xfrm>
            <a:off x="841248" y="210312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Great for a one-time look. But it forgets every session, has no governance, and won't alert you. InsightHub remembers, governs access, and watches your numbers 24/7.</a:t>
            </a:r>
            <a:endParaRPr lang="en-US" sz="1120" dirty="0"/>
          </a:p>
        </p:txBody>
      </p:sp>
      <p:sp>
        <p:nvSpPr>
          <p:cNvPr id="8" name="Shape 6"/>
          <p:cNvSpPr/>
          <p:nvPr/>
        </p:nvSpPr>
        <p:spPr>
          <a:xfrm>
            <a:off x="6217920" y="164592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9" name="Shape 7"/>
          <p:cNvSpPr/>
          <p:nvPr/>
        </p:nvSpPr>
        <p:spPr>
          <a:xfrm>
            <a:off x="6217920" y="1645920"/>
            <a:ext cx="118872" cy="1298448"/>
          </a:xfrm>
          <a:prstGeom prst="roundRect">
            <a:avLst>
              <a:gd name="adj" fmla="val 15385"/>
            </a:avLst>
          </a:prstGeom>
          <a:solidFill>
            <a:srgbClr val="2563EB"/>
          </a:solidFill>
          <a:ln/>
        </p:spPr>
        <p:txBody>
          <a:bodyPr/>
          <a:lstStyle/>
          <a:p>
            <a:endParaRPr lang="en-US"/>
          </a:p>
        </p:txBody>
      </p:sp>
      <p:sp>
        <p:nvSpPr>
          <p:cNvPr id="10" name="Text 8"/>
          <p:cNvSpPr/>
          <p:nvPr/>
        </p:nvSpPr>
        <p:spPr>
          <a:xfrm>
            <a:off x="6510528" y="1755648"/>
            <a:ext cx="4937760" cy="365760"/>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"We already have Power BI / an accountant."</a:t>
            </a:r>
            <a:endParaRPr lang="en-US" sz="1300" dirty="0"/>
          </a:p>
        </p:txBody>
      </p:sp>
      <p:sp>
        <p:nvSpPr>
          <p:cNvPr id="11" name="Text 9"/>
          <p:cNvSpPr/>
          <p:nvPr/>
        </p:nvSpPr>
        <p:spPr>
          <a:xfrm>
            <a:off x="6510528" y="210312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Perfect — this doesn't replace them, it removes the setup. No developer to model data, no waiting for month-end. Insight the moment data lands.</a:t>
            </a:r>
            <a:endParaRPr lang="en-US" sz="1120" dirty="0"/>
          </a:p>
        </p:txBody>
      </p:sp>
      <p:sp>
        <p:nvSpPr>
          <p:cNvPr id="12" name="Shape 10"/>
          <p:cNvSpPr/>
          <p:nvPr/>
        </p:nvSpPr>
        <p:spPr>
          <a:xfrm>
            <a:off x="548640" y="310896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3" name="Shape 11"/>
          <p:cNvSpPr/>
          <p:nvPr/>
        </p:nvSpPr>
        <p:spPr>
          <a:xfrm>
            <a:off x="548640" y="3108960"/>
            <a:ext cx="118872" cy="1298448"/>
          </a:xfrm>
          <a:prstGeom prst="roundRect">
            <a:avLst>
              <a:gd name="adj" fmla="val 15385"/>
            </a:avLst>
          </a:prstGeom>
          <a:solidFill>
            <a:srgbClr val="DC2626"/>
          </a:solidFill>
          <a:ln/>
        </p:spPr>
        <p:txBody>
          <a:bodyPr/>
          <a:lstStyle/>
          <a:p>
            <a:endParaRPr lang="en-US"/>
          </a:p>
        </p:txBody>
      </p:sp>
      <p:sp>
        <p:nvSpPr>
          <p:cNvPr id="14" name="Text 12"/>
          <p:cNvSpPr/>
          <p:nvPr/>
        </p:nvSpPr>
        <p:spPr>
          <a:xfrm>
            <a:off x="841248" y="3218688"/>
            <a:ext cx="4937760" cy="365760"/>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"Is my data secure / who can see it?"</a:t>
            </a:r>
            <a:endParaRPr lang="en-US" sz="1300" dirty="0"/>
          </a:p>
        </p:txBody>
      </p:sp>
      <p:sp>
        <p:nvSpPr>
          <p:cNvPr id="15" name="Text 13"/>
          <p:cNvSpPr/>
          <p:nvPr/>
        </p:nvSpPr>
        <p:spPr>
          <a:xfrm>
            <a:off x="841248" y="356616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Tenant isolation, role-based access down to the row, encryption, audit logs, GDPR/CCPA today, SOC 2 on the roadmap. Your data never trains a shared model.</a:t>
            </a:r>
            <a:endParaRPr lang="en-US" sz="1120" dirty="0"/>
          </a:p>
        </p:txBody>
      </p:sp>
      <p:sp>
        <p:nvSpPr>
          <p:cNvPr id="16" name="Shape 14"/>
          <p:cNvSpPr/>
          <p:nvPr/>
        </p:nvSpPr>
        <p:spPr>
          <a:xfrm>
            <a:off x="6217920" y="310896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17" name="Shape 15"/>
          <p:cNvSpPr/>
          <p:nvPr/>
        </p:nvSpPr>
        <p:spPr>
          <a:xfrm>
            <a:off x="6217920" y="3108960"/>
            <a:ext cx="118872" cy="1298448"/>
          </a:xfrm>
          <a:prstGeom prst="roundRect">
            <a:avLst>
              <a:gd name="adj" fmla="val 15385"/>
            </a:avLst>
          </a:prstGeom>
          <a:solidFill>
            <a:srgbClr val="0D9488"/>
          </a:solidFill>
          <a:ln/>
        </p:spPr>
        <p:txBody>
          <a:bodyPr/>
          <a:lstStyle/>
          <a:p>
            <a:endParaRPr lang="en-US"/>
          </a:p>
        </p:txBody>
      </p:sp>
      <p:sp>
        <p:nvSpPr>
          <p:cNvPr id="18" name="Text 16"/>
          <p:cNvSpPr/>
          <p:nvPr/>
        </p:nvSpPr>
        <p:spPr>
          <a:xfrm>
            <a:off x="6510528" y="3218688"/>
            <a:ext cx="4937760" cy="36576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"What if my data doesn't fit your templates?"</a:t>
            </a:r>
            <a:endParaRPr lang="en-US" sz="1300" dirty="0"/>
          </a:p>
        </p:txBody>
      </p:sp>
      <p:sp>
        <p:nvSpPr>
          <p:cNvPr id="19" name="Text 17"/>
          <p:cNvSpPr/>
          <p:nvPr/>
        </p:nvSpPr>
        <p:spPr>
          <a:xfrm>
            <a:off x="6510528" y="356616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The ad hoc playground analyzes any dataset you name — you still get trends, comparisons, and AI Q&amp;A even with no matching domain.</a:t>
            </a:r>
            <a:endParaRPr lang="en-US" sz="1120" dirty="0"/>
          </a:p>
        </p:txBody>
      </p:sp>
      <p:sp>
        <p:nvSpPr>
          <p:cNvPr id="20" name="Shape 18"/>
          <p:cNvSpPr/>
          <p:nvPr/>
        </p:nvSpPr>
        <p:spPr>
          <a:xfrm>
            <a:off x="548640" y="457200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21" name="Shape 19"/>
          <p:cNvSpPr/>
          <p:nvPr/>
        </p:nvSpPr>
        <p:spPr>
          <a:xfrm>
            <a:off x="548640" y="4572000"/>
            <a:ext cx="118872" cy="1298448"/>
          </a:xfrm>
          <a:prstGeom prst="roundRect">
            <a:avLst>
              <a:gd name="adj" fmla="val 15385"/>
            </a:avLst>
          </a:prstGeom>
          <a:solidFill>
            <a:srgbClr val="D97706"/>
          </a:solidFill>
          <a:ln/>
        </p:spPr>
        <p:txBody>
          <a:bodyPr/>
          <a:lstStyle/>
          <a:p>
            <a:endParaRPr lang="en-US"/>
          </a:p>
        </p:txBody>
      </p:sp>
      <p:sp>
        <p:nvSpPr>
          <p:cNvPr id="22" name="Text 20"/>
          <p:cNvSpPr/>
          <p:nvPr/>
        </p:nvSpPr>
        <p:spPr>
          <a:xfrm>
            <a:off x="841248" y="4681728"/>
            <a:ext cx="4937760" cy="365760"/>
          </a:xfrm>
          <a:prstGeom prst="rect">
            <a:avLst/>
          </a:prstGeom>
          <a:noFill/>
          <a:ln/>
        </p:spPr>
        <p:txBody>
          <a:bodyPr wrap="square"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"How accurate is the AI?"</a:t>
            </a:r>
            <a:endParaRPr lang="en-US" sz="1300" dirty="0"/>
          </a:p>
        </p:txBody>
      </p:sp>
      <p:sp>
        <p:nvSpPr>
          <p:cNvPr id="23" name="Text 21"/>
          <p:cNvSpPr/>
          <p:nvPr/>
        </p:nvSpPr>
        <p:spPr>
          <a:xfrm>
            <a:off x="841248" y="502920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Answers are grounded in your warehouse only, scoped to your tenant, with a shared metric layer so numbers never disagree. You can also bring your own premium LLM.</a:t>
            </a:r>
            <a:endParaRPr lang="en-US" sz="1120" dirty="0"/>
          </a:p>
        </p:txBody>
      </p:sp>
      <p:sp>
        <p:nvSpPr>
          <p:cNvPr id="24" name="Shape 22"/>
          <p:cNvSpPr/>
          <p:nvPr/>
        </p:nvSpPr>
        <p:spPr>
          <a:xfrm>
            <a:off x="6217920" y="4572000"/>
            <a:ext cx="5394960" cy="1298448"/>
          </a:xfrm>
          <a:prstGeom prst="roundRect">
            <a:avLst>
              <a:gd name="adj" fmla="val 6338"/>
            </a:avLst>
          </a:prstGeom>
          <a:solidFill>
            <a:srgbClr val="F1F5F9"/>
          </a:solidFill>
          <a:ln w="12700">
            <a:solidFill>
              <a:srgbClr val="E2E8F0"/>
            </a:solidFill>
            <a:prstDash val="solid"/>
          </a:ln>
          <a:effectLst>
            <a:outerShdw blurRad="63500" dist="25400" dir="5400000" algn="bl" rotWithShape="0">
              <a:srgbClr val="0F172A">
                <a:alpha val="16000"/>
              </a:srgbClr>
            </a:outerShdw>
          </a:effectLst>
        </p:spPr>
        <p:txBody>
          <a:bodyPr/>
          <a:lstStyle/>
          <a:p>
            <a:endParaRPr lang="en-US"/>
          </a:p>
        </p:txBody>
      </p:sp>
      <p:sp>
        <p:nvSpPr>
          <p:cNvPr id="25" name="Shape 23"/>
          <p:cNvSpPr/>
          <p:nvPr/>
        </p:nvSpPr>
        <p:spPr>
          <a:xfrm>
            <a:off x="6217920" y="4572000"/>
            <a:ext cx="118872" cy="1298448"/>
          </a:xfrm>
          <a:prstGeom prst="roundRect">
            <a:avLst>
              <a:gd name="adj" fmla="val 15385"/>
            </a:avLst>
          </a:prstGeom>
          <a:solidFill>
            <a:srgbClr val="059669"/>
          </a:solidFill>
          <a:ln/>
        </p:spPr>
        <p:txBody>
          <a:bodyPr/>
          <a:lstStyle/>
          <a:p>
            <a:endParaRPr lang="en-US"/>
          </a:p>
        </p:txBody>
      </p:sp>
      <p:sp>
        <p:nvSpPr>
          <p:cNvPr id="26" name="Text 24"/>
          <p:cNvSpPr/>
          <p:nvPr/>
        </p:nvSpPr>
        <p:spPr>
          <a:xfrm>
            <a:off x="6510528" y="4681728"/>
            <a:ext cx="4937760" cy="36576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"What does it cost to switch?"</a:t>
            </a:r>
            <a:endParaRPr lang="en-US" sz="1300" dirty="0"/>
          </a:p>
        </p:txBody>
      </p:sp>
      <p:sp>
        <p:nvSpPr>
          <p:cNvPr id="27" name="Text 25"/>
          <p:cNvSpPr/>
          <p:nvPr/>
        </p:nvSpPr>
        <p:spPr>
          <a:xfrm>
            <a:off x="6510528" y="5029200"/>
            <a:ext cx="4983480" cy="777240"/>
          </a:xfrm>
          <a:prstGeom prst="rect">
            <a:avLst/>
          </a:prstGeom>
          <a:noFill/>
          <a:ln/>
        </p:spPr>
        <p:txBody>
          <a:bodyPr wrap="square" rtlCol="0" anchor="t"/>
          <a:lstStyle/>
          <a:p>
            <a:pPr marL="0" indent="0">
              <a:lnSpc>
                <a:spcPct val="100000"/>
              </a:lnSpc>
              <a:buNone/>
            </a:pPr>
            <a:r>
              <a:rPr lang="en-US" sz="1120" dirty="0">
                <a:solidFill>
                  <a:srgbClr val="475569"/>
                </a:solidFill>
                <a:latin typeface="Calibri" pitchFamily="34" charset="0"/>
                <a:ea typeface="Calibri" pitchFamily="34" charset="-122"/>
                <a:cs typeface="Calibri" pitchFamily="34" charset="-120"/>
              </a:rPr>
              <a:t>Nothing to set up — upload a file and see value in minutes. No migration project, no professional services.</a:t>
            </a:r>
            <a:endParaRPr lang="en-US" sz="1120" dirty="0"/>
          </a:p>
        </p:txBody>
      </p:sp>
      <p:sp>
        <p:nvSpPr>
          <p:cNvPr id="28" name="Text 26"/>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13</a:t>
            </a:r>
            <a:endParaRPr lang="en-US" sz="900" dirty="0"/>
          </a:p>
        </p:txBody>
      </p:sp>
      <p:sp>
        <p:nvSpPr>
          <p:cNvPr id="29" name="Text 27"/>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0"/>
          </a:xfrm>
          <a:prstGeom prst="rect">
            <a:avLst/>
          </a:prstGeom>
          <a:solidFill>
            <a:srgbClr val="0F172A"/>
          </a:solidFill>
          <a:ln/>
        </p:spPr>
        <p:txBody>
          <a:bodyPr/>
          <a:lstStyle/>
          <a:p>
            <a:endParaRPr lang="en-US"/>
          </a:p>
        </p:txBody>
      </p:sp>
      <p:sp>
        <p:nvSpPr>
          <p:cNvPr id="3" name="Text 1"/>
          <p:cNvSpPr/>
          <p:nvPr/>
        </p:nvSpPr>
        <p:spPr>
          <a:xfrm>
            <a:off x="640080" y="685800"/>
            <a:ext cx="10972800" cy="10972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From spreadsheets to a governed, AI-driven habit</a:t>
            </a:r>
            <a:endParaRPr lang="en-US" sz="3000" dirty="0"/>
          </a:p>
        </p:txBody>
      </p:sp>
      <p:sp>
        <p:nvSpPr>
          <p:cNvPr id="4" name="Text 2"/>
          <p:cNvSpPr/>
          <p:nvPr/>
        </p:nvSpPr>
        <p:spPr>
          <a:xfrm>
            <a:off x="658368" y="2286000"/>
            <a:ext cx="10789920" cy="640080"/>
          </a:xfrm>
          <a:prstGeom prst="rect">
            <a:avLst/>
          </a:prstGeom>
          <a:noFill/>
          <a:ln/>
        </p:spPr>
        <p:txBody>
          <a:bodyPr wrap="square" rtlCol="0" anchor="ctr"/>
          <a:lstStyle/>
          <a:p>
            <a:pPr marL="0" indent="0">
              <a:buNone/>
            </a:pPr>
            <a:r>
              <a:rPr lang="en-US" sz="1500" i="1" dirty="0">
                <a:solidFill>
                  <a:srgbClr val="CBD5E1"/>
                </a:solidFill>
                <a:latin typeface="Calibri" pitchFamily="34" charset="0"/>
                <a:ea typeface="Calibri" pitchFamily="34" charset="-122"/>
                <a:cs typeface="Calibri" pitchFamily="34" charset="-120"/>
              </a:rPr>
              <a:t>Recap: the whole analytics pipeline in one click — and unlike a chat window, it persists, it's governed, and it watches your numbers for you.</a:t>
            </a:r>
            <a:endParaRPr lang="en-US" sz="1500" dirty="0"/>
          </a:p>
        </p:txBody>
      </p:sp>
      <p:sp>
        <p:nvSpPr>
          <p:cNvPr id="5" name="Shape 3"/>
          <p:cNvSpPr/>
          <p:nvPr/>
        </p:nvSpPr>
        <p:spPr>
          <a:xfrm>
            <a:off x="658368" y="3200400"/>
            <a:ext cx="3429000" cy="2011680"/>
          </a:xfrm>
          <a:prstGeom prst="roundRect">
            <a:avLst>
              <a:gd name="adj" fmla="val 4091"/>
            </a:avLst>
          </a:prstGeom>
          <a:solidFill>
            <a:srgbClr val="0F172A"/>
          </a:solidFill>
          <a:ln w="12700">
            <a:solidFill>
              <a:srgbClr val="0D9488"/>
            </a:solidFill>
            <a:prstDash val="solid"/>
          </a:ln>
        </p:spPr>
        <p:txBody>
          <a:bodyPr/>
          <a:lstStyle/>
          <a:p>
            <a:endParaRPr lang="en-US"/>
          </a:p>
        </p:txBody>
      </p:sp>
      <p:sp>
        <p:nvSpPr>
          <p:cNvPr id="6" name="Text 4"/>
          <p:cNvSpPr/>
          <p:nvPr/>
        </p:nvSpPr>
        <p:spPr>
          <a:xfrm>
            <a:off x="886968" y="3383280"/>
            <a:ext cx="3017520" cy="457200"/>
          </a:xfrm>
          <a:prstGeom prst="rect">
            <a:avLst/>
          </a:prstGeom>
          <a:noFill/>
          <a:ln/>
        </p:spPr>
        <p:txBody>
          <a:bodyPr wrap="square" rtlCol="0" anchor="ctr"/>
          <a:lstStyle/>
          <a:p>
            <a:pPr marL="0" indent="0">
              <a:buNone/>
            </a:pPr>
            <a:r>
              <a:rPr lang="en-US" sz="1600" b="1" dirty="0">
                <a:solidFill>
                  <a:srgbClr val="0D9488"/>
                </a:solidFill>
                <a:latin typeface="Calibri" pitchFamily="34" charset="0"/>
                <a:ea typeface="Calibri" pitchFamily="34" charset="-122"/>
                <a:cs typeface="Calibri" pitchFamily="34" charset="-120"/>
              </a:rPr>
              <a:t>For prospects</a:t>
            </a:r>
            <a:endParaRPr lang="en-US" sz="1600" dirty="0"/>
          </a:p>
        </p:txBody>
      </p:sp>
      <p:sp>
        <p:nvSpPr>
          <p:cNvPr id="7" name="Text 5"/>
          <p:cNvSpPr/>
          <p:nvPr/>
        </p:nvSpPr>
        <p:spPr>
          <a:xfrm>
            <a:off x="658368" y="658368"/>
            <a:ext cx="91440" cy="91440"/>
          </a:xfrm>
          <a:prstGeom prst="rect">
            <a:avLst/>
          </a:prstGeom>
          <a:noFill/>
          <a:ln/>
        </p:spPr>
        <p:txBody>
          <a:bodyPr wrap="square" rtlCol="0" anchor="ctr"/>
          <a:lstStyle/>
          <a:p>
            <a:pPr marL="0" indent="0">
              <a:buNone/>
            </a:pPr>
            <a:endParaRPr lang="en-US" dirty="0"/>
          </a:p>
        </p:txBody>
      </p:sp>
      <p:sp>
        <p:nvSpPr>
          <p:cNvPr id="8" name="Text 6"/>
          <p:cNvSpPr/>
          <p:nvPr/>
        </p:nvSpPr>
        <p:spPr>
          <a:xfrm>
            <a:off x="886968" y="3886200"/>
            <a:ext cx="3063240" cy="1234440"/>
          </a:xfrm>
          <a:prstGeom prst="rect">
            <a:avLst/>
          </a:prstGeom>
          <a:noFill/>
          <a:ln/>
        </p:spPr>
        <p:txBody>
          <a:bodyPr wrap="square" rtlCol="0" anchor="t"/>
          <a:lstStyle/>
          <a:p>
            <a:pPr marL="0" indent="0">
              <a:lnSpc>
                <a:spcPct val="108000"/>
              </a:lnSpc>
              <a:buNone/>
            </a:pPr>
            <a:r>
              <a:rPr lang="en-US" sz="1300" dirty="0">
                <a:solidFill>
                  <a:srgbClr val="CBD5E1"/>
                </a:solidFill>
                <a:latin typeface="Calibri" pitchFamily="34" charset="0"/>
                <a:ea typeface="Calibri" pitchFamily="34" charset="-122"/>
                <a:cs typeface="Calibri" pitchFamily="34" charset="-120"/>
              </a:rPr>
              <a:t>Book a 15-min demo with their own file. First insight live, in the room.</a:t>
            </a:r>
            <a:endParaRPr lang="en-US" sz="1300" dirty="0"/>
          </a:p>
        </p:txBody>
      </p:sp>
      <p:sp>
        <p:nvSpPr>
          <p:cNvPr id="9" name="Shape 7"/>
          <p:cNvSpPr/>
          <p:nvPr/>
        </p:nvSpPr>
        <p:spPr>
          <a:xfrm>
            <a:off x="4361688" y="3200400"/>
            <a:ext cx="3429000" cy="2011680"/>
          </a:xfrm>
          <a:prstGeom prst="roundRect">
            <a:avLst>
              <a:gd name="adj" fmla="val 4091"/>
            </a:avLst>
          </a:prstGeom>
          <a:solidFill>
            <a:srgbClr val="0F172A"/>
          </a:solidFill>
          <a:ln w="12700">
            <a:solidFill>
              <a:srgbClr val="2563EB"/>
            </a:solidFill>
            <a:prstDash val="solid"/>
          </a:ln>
        </p:spPr>
        <p:txBody>
          <a:bodyPr/>
          <a:lstStyle/>
          <a:p>
            <a:endParaRPr lang="en-US"/>
          </a:p>
        </p:txBody>
      </p:sp>
      <p:sp>
        <p:nvSpPr>
          <p:cNvPr id="10" name="Text 8"/>
          <p:cNvSpPr/>
          <p:nvPr/>
        </p:nvSpPr>
        <p:spPr>
          <a:xfrm>
            <a:off x="4590288" y="3383280"/>
            <a:ext cx="3017520" cy="457200"/>
          </a:xfrm>
          <a:prstGeom prst="rect">
            <a:avLst/>
          </a:prstGeom>
          <a:noFill/>
          <a:ln/>
        </p:spPr>
        <p:txBody>
          <a:bodyPr wrap="square" rtlCol="0" anchor="ctr"/>
          <a:lstStyle/>
          <a:p>
            <a:pPr marL="0" indent="0">
              <a:buNone/>
            </a:pPr>
            <a:r>
              <a:rPr lang="en-US" sz="1600" b="1" dirty="0">
                <a:solidFill>
                  <a:srgbClr val="2563EB"/>
                </a:solidFill>
                <a:latin typeface="Calibri" pitchFamily="34" charset="0"/>
                <a:ea typeface="Calibri" pitchFamily="34" charset="-122"/>
                <a:cs typeface="Calibri" pitchFamily="34" charset="-120"/>
              </a:rPr>
              <a:t>For the team</a:t>
            </a:r>
            <a:endParaRPr lang="en-US" sz="1600" dirty="0"/>
          </a:p>
        </p:txBody>
      </p:sp>
      <p:sp>
        <p:nvSpPr>
          <p:cNvPr id="11" name="Text 9"/>
          <p:cNvSpPr/>
          <p:nvPr/>
        </p:nvSpPr>
        <p:spPr>
          <a:xfrm>
            <a:off x="4361688" y="4361688"/>
            <a:ext cx="91440" cy="91440"/>
          </a:xfrm>
          <a:prstGeom prst="rect">
            <a:avLst/>
          </a:prstGeom>
          <a:noFill/>
          <a:ln/>
        </p:spPr>
        <p:txBody>
          <a:bodyPr wrap="square" rtlCol="0" anchor="ctr"/>
          <a:lstStyle/>
          <a:p>
            <a:pPr marL="0" indent="0">
              <a:buNone/>
            </a:pPr>
            <a:endParaRPr lang="en-US" dirty="0"/>
          </a:p>
        </p:txBody>
      </p:sp>
      <p:sp>
        <p:nvSpPr>
          <p:cNvPr id="12" name="Text 10"/>
          <p:cNvSpPr/>
          <p:nvPr/>
        </p:nvSpPr>
        <p:spPr>
          <a:xfrm>
            <a:off x="4590288" y="3886200"/>
            <a:ext cx="3063240" cy="1234440"/>
          </a:xfrm>
          <a:prstGeom prst="rect">
            <a:avLst/>
          </a:prstGeom>
          <a:noFill/>
          <a:ln/>
        </p:spPr>
        <p:txBody>
          <a:bodyPr wrap="square" rtlCol="0" anchor="t"/>
          <a:lstStyle/>
          <a:p>
            <a:pPr marL="0" indent="0">
              <a:lnSpc>
                <a:spcPct val="108000"/>
              </a:lnSpc>
              <a:buNone/>
            </a:pPr>
            <a:r>
              <a:rPr lang="en-US" sz="1300" dirty="0">
                <a:solidFill>
                  <a:srgbClr val="CBD5E1"/>
                </a:solidFill>
                <a:latin typeface="Calibri" pitchFamily="34" charset="0"/>
                <a:ea typeface="Calibri" pitchFamily="34" charset="-122"/>
                <a:cs typeface="Calibri" pitchFamily="34" charset="-120"/>
              </a:rPr>
              <a:t>Use the 8-min script + objection cards. Qualify on 'no data team' + 'data in exports'.</a:t>
            </a:r>
            <a:endParaRPr lang="en-US" sz="1300" dirty="0"/>
          </a:p>
        </p:txBody>
      </p:sp>
      <p:sp>
        <p:nvSpPr>
          <p:cNvPr id="13" name="Shape 11"/>
          <p:cNvSpPr/>
          <p:nvPr/>
        </p:nvSpPr>
        <p:spPr>
          <a:xfrm>
            <a:off x="8065008" y="3200400"/>
            <a:ext cx="3429000" cy="2011680"/>
          </a:xfrm>
          <a:prstGeom prst="roundRect">
            <a:avLst>
              <a:gd name="adj" fmla="val 4091"/>
            </a:avLst>
          </a:prstGeom>
          <a:solidFill>
            <a:srgbClr val="0F172A"/>
          </a:solidFill>
          <a:ln w="12700">
            <a:solidFill>
              <a:srgbClr val="D97706"/>
            </a:solidFill>
            <a:prstDash val="solid"/>
          </a:ln>
        </p:spPr>
        <p:txBody>
          <a:bodyPr/>
          <a:lstStyle/>
          <a:p>
            <a:endParaRPr lang="en-US"/>
          </a:p>
        </p:txBody>
      </p:sp>
      <p:sp>
        <p:nvSpPr>
          <p:cNvPr id="14" name="Text 12"/>
          <p:cNvSpPr/>
          <p:nvPr/>
        </p:nvSpPr>
        <p:spPr>
          <a:xfrm>
            <a:off x="8293608" y="3383280"/>
            <a:ext cx="3017520" cy="457200"/>
          </a:xfrm>
          <a:prstGeom prst="rect">
            <a:avLst/>
          </a:prstGeom>
          <a:noFill/>
          <a:ln/>
        </p:spPr>
        <p:txBody>
          <a:bodyPr wrap="square" rtlCol="0" anchor="ctr"/>
          <a:lstStyle/>
          <a:p>
            <a:pPr marL="0" indent="0">
              <a:buNone/>
            </a:pPr>
            <a:r>
              <a:rPr lang="en-US" sz="1600" b="1" dirty="0">
                <a:solidFill>
                  <a:srgbClr val="D97706"/>
                </a:solidFill>
                <a:latin typeface="Calibri" pitchFamily="34" charset="0"/>
                <a:ea typeface="Calibri" pitchFamily="34" charset="-122"/>
                <a:cs typeface="Calibri" pitchFamily="34" charset="-120"/>
              </a:rPr>
              <a:t>For pilots</a:t>
            </a:r>
            <a:endParaRPr lang="en-US" sz="1600" dirty="0"/>
          </a:p>
        </p:txBody>
      </p:sp>
      <p:sp>
        <p:nvSpPr>
          <p:cNvPr id="15" name="Text 13"/>
          <p:cNvSpPr/>
          <p:nvPr/>
        </p:nvSpPr>
        <p:spPr>
          <a:xfrm>
            <a:off x="8065008" y="8065008"/>
            <a:ext cx="91440" cy="91440"/>
          </a:xfrm>
          <a:prstGeom prst="rect">
            <a:avLst/>
          </a:prstGeom>
          <a:noFill/>
          <a:ln/>
        </p:spPr>
        <p:txBody>
          <a:bodyPr wrap="square" rtlCol="0" anchor="ctr"/>
          <a:lstStyle/>
          <a:p>
            <a:pPr marL="0" indent="0">
              <a:buNone/>
            </a:pPr>
            <a:endParaRPr lang="en-US" dirty="0"/>
          </a:p>
        </p:txBody>
      </p:sp>
      <p:sp>
        <p:nvSpPr>
          <p:cNvPr id="16" name="Text 14"/>
          <p:cNvSpPr/>
          <p:nvPr/>
        </p:nvSpPr>
        <p:spPr>
          <a:xfrm>
            <a:off x="8293608" y="3886200"/>
            <a:ext cx="3063240" cy="1234440"/>
          </a:xfrm>
          <a:prstGeom prst="rect">
            <a:avLst/>
          </a:prstGeom>
          <a:noFill/>
          <a:ln/>
        </p:spPr>
        <p:txBody>
          <a:bodyPr wrap="square" rtlCol="0" anchor="t"/>
          <a:lstStyle/>
          <a:p>
            <a:pPr marL="0" indent="0">
              <a:lnSpc>
                <a:spcPct val="108000"/>
              </a:lnSpc>
              <a:buNone/>
            </a:pPr>
            <a:r>
              <a:rPr lang="en-US" sz="1300" dirty="0">
                <a:solidFill>
                  <a:srgbClr val="CBD5E1"/>
                </a:solidFill>
                <a:latin typeface="Calibri" pitchFamily="34" charset="0"/>
                <a:ea typeface="Calibri" pitchFamily="34" charset="-122"/>
                <a:cs typeface="Calibri" pitchFamily="34" charset="-120"/>
              </a:rPr>
              <a:t>Free trial, one workspace, one vertical. Measure time-to-first-insight &amp; activation.</a:t>
            </a:r>
            <a:endParaRPr lang="en-US" sz="1300" dirty="0"/>
          </a:p>
        </p:txBody>
      </p:sp>
      <p:sp>
        <p:nvSpPr>
          <p:cNvPr id="17" name="Text 15"/>
          <p:cNvSpPr/>
          <p:nvPr/>
        </p:nvSpPr>
        <p:spPr>
          <a:xfrm>
            <a:off x="658368" y="5577840"/>
            <a:ext cx="10972800" cy="457200"/>
          </a:xfrm>
          <a:prstGeom prst="rect">
            <a:avLst/>
          </a:prstGeom>
          <a:noFill/>
          <a:ln/>
        </p:spPr>
        <p:txBody>
          <a:bodyPr wrap="square" rtlCol="0" anchor="ctr"/>
          <a:lstStyle/>
          <a:p>
            <a:pPr marL="0" indent="0">
              <a:buNone/>
            </a:pPr>
            <a:r>
              <a:rPr lang="en-US" sz="1600" b="1" dirty="0">
                <a:solidFill>
                  <a:srgbClr val="5EEAD4"/>
                </a:solidFill>
                <a:latin typeface="Calibri" pitchFamily="34" charset="0"/>
                <a:ea typeface="Calibri" pitchFamily="34" charset="-122"/>
                <a:cs typeface="Calibri" pitchFamily="34" charset="-120"/>
              </a:rPr>
              <a:t>InsightHub — analytics for businesses with no data team.</a:t>
            </a:r>
            <a:endParaRPr lang="en-US" sz="1600" dirty="0"/>
          </a:p>
        </p:txBody>
      </p:sp>
      <p:sp>
        <p:nvSpPr>
          <p:cNvPr id="18" name="Text 16"/>
          <p:cNvSpPr/>
          <p:nvPr/>
        </p:nvSpPr>
        <p:spPr>
          <a:xfrm>
            <a:off x="11551615" y="6473952"/>
            <a:ext cx="365760" cy="274320"/>
          </a:xfrm>
          <a:prstGeom prst="rect">
            <a:avLst/>
          </a:prstGeom>
          <a:noFill/>
          <a:ln/>
        </p:spPr>
        <p:txBody>
          <a:bodyPr wrap="square" rtlCol="0" anchor="ctr"/>
          <a:lstStyle/>
          <a:p>
            <a:pPr marL="0" indent="0" algn="r">
              <a:buNone/>
            </a:pPr>
            <a:r>
              <a:rPr lang="en-US" sz="900" dirty="0">
                <a:solidFill>
                  <a:srgbClr val="475569"/>
                </a:solidFill>
                <a:latin typeface="Calibri" pitchFamily="34" charset="0"/>
                <a:ea typeface="Calibri" pitchFamily="34" charset="-122"/>
                <a:cs typeface="Calibri" pitchFamily="34" charset="-120"/>
              </a:rPr>
              <a:t>14</a:t>
            </a:r>
            <a:endParaRPr lang="en-US" sz="900" dirty="0"/>
          </a:p>
        </p:txBody>
      </p:sp>
      <p:sp>
        <p:nvSpPr>
          <p:cNvPr id="19" name="Text 17"/>
          <p:cNvSpPr/>
          <p:nvPr/>
        </p:nvSpPr>
        <p:spPr>
          <a:xfrm>
            <a:off x="457200" y="6473952"/>
            <a:ext cx="5486400" cy="27432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InsightHub · Presales &amp; GTM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12468</TotalTime>
  <Words>2331</Words>
  <Application>Microsoft Office PowerPoint</Application>
  <PresentationFormat>Widescreen</PresentationFormat>
  <Paragraphs>315</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InsightHub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InsightHub</dc:creator>
  <cp:lastModifiedBy>Varatharajan Subramanian</cp:lastModifiedBy>
  <cp:revision>2</cp:revision>
  <dcterms:created xsi:type="dcterms:W3CDTF">2026-07-24T21:17:01Z</dcterms:created>
  <dcterms:modified xsi:type="dcterms:W3CDTF">2026-08-20T18:08:07Z</dcterms:modified>
</cp:coreProperties>
</file>