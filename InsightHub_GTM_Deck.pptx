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FFFFFF"/>
                </a:solidFill>
                <a:latin typeface="Calibri"/>
              </a:rPr>
              <a:t>PI software market ($B)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 market ($B)</c:v>
                </c:pt>
              </c:strCache>
            </c:strRef>
          </c:tx>
          <c:spPr>
            <a:solidFill>
              <a:srgbClr val="4FA894">
                <a:alpha val="10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2031</c:v>
                </c:pt>
                <c:pt idx="2">
                  <c:v>2034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16.5</c:v>
                </c:pt>
                <c:pt idx="1">
                  <c:v>31</c:v>
                </c:pt>
                <c:pt idx="2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AE-4FD8-AD68-DD8C9046EC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DCE9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680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148840"/>
          </a:xfrm>
          <a:prstGeom prst="rect">
            <a:avLst/>
          </a:prstGeom>
          <a:solidFill>
            <a:srgbClr val="1F5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77240" y="640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InsightHub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08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Readiness &amp; Product Strategy Review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assessment for the leadership approval decision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834640" cy="640080"/>
          </a:xfrm>
          <a:prstGeom prst="roundRect">
            <a:avLst>
              <a:gd name="adj" fmla="val 14286"/>
            </a:avLst>
          </a:prstGeom>
          <a:solidFill>
            <a:srgbClr val="2E7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86200" y="4114800"/>
            <a:ext cx="2834640" cy="640080"/>
          </a:xfrm>
          <a:prstGeom prst="roundRect">
            <a:avLst>
              <a:gd name="adj" fmla="val 14286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886200" y="4114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4114800"/>
            <a:ext cx="2834640" cy="640080"/>
          </a:xfrm>
          <a:prstGeom prst="roundRect">
            <a:avLst>
              <a:gd name="adj" fmla="val 14286"/>
            </a:avLst>
          </a:prstGeom>
          <a:solidFill>
            <a:srgbClr val="3E6E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949440" y="4114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prospect in view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Varatharajan   ·  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blunt questions, four blunt answers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 w="12700">
            <a:solidFill>
              <a:srgbClr val="DDE5EC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502920" cy="502920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276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Sellable product the market needs?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317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Partly. The horizontal “AI analytics” story is crowded. But the Payment Integrity vertical is real, budgeted and growing.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 w="12700">
            <a:solidFill>
              <a:srgbClr val="DDE5EC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37960" y="1645920"/>
            <a:ext cx="502920" cy="502920"/>
          </a:xfrm>
          <a:prstGeom prst="ellipse">
            <a:avLst/>
          </a:prstGeom>
          <a:solidFill>
            <a:srgbClr val="2E7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379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6276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 I on the right product?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3317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on the engine — no on the framing. Go deep on payment integrity; stop spreading across six domains.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 w="12700">
            <a:solidFill>
              <a:srgbClr val="DDE5EC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16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144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0507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we for GTM?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754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Early, but ahead of most solo builds. Have: MVP + deploy path + prospect. Missing: design partner, ref-data, BAA, pricing.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37947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 w="12700">
            <a:solidFill>
              <a:srgbClr val="DDE5EC"/>
            </a:solidFill>
            <a:prstDash val="solid"/>
          </a:ln>
          <a:effectLst>
            <a:outerShdw blurRad="50800" dist="25400" dir="54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37960" y="4069080"/>
            <a:ext cx="502920" cy="502920"/>
          </a:xfrm>
          <a:prstGeom prst="ellipse">
            <a:avLst/>
          </a:prstGeom>
          <a:solidFill>
            <a:srgbClr val="1F5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5379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0507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I get leadership approval?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754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yes — if you pitch the wedge, not the platform. A named payer + 90-day proof is an approvable bet.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have actually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than a typical pre-revenue project — and that changes the approval conversation.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1F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moat, not the product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517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admin portal, FastAPI backend (JWT, RBAC), Next.js app on Neon Postgres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warehouse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star schema, SCD2 history, dbt snapshots + incremental facts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validate → transform → verify, run history + retries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LLM gateway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per-tenant BYO key; AI cost + data control stay with the customer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7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4652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F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INTEGRITY VERTICAL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12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517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claims-analysis engine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duplicates, high-$ outliers, unit/MUE, provider peer-outliers, E/M upcoding, age/gender edits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worklist + provider scorecard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ranked by $ × confidence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synthetic claims + answer key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6,350 claims, ~$740K, measurable catch-rate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lineage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ingest → warehouse → persisted run → charts → AI narrative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market actually need this?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 of the product — two opposite answers.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B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 —  AI-BI FOR SMB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Crowded, commoditizing category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(bundled in M365), Tableau, Zoho, Metabase, QuickBooks reporting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“chat with your data” is now table stakes — Copilot, Tableau Pulse, ChatGPT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a small build to beat Microsoft’s distribution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486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anchor the leadership pitch here.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E7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4652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INTEGRITY VERTICAL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926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F5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7432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funded, growing — not a hypothetical need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~$95B/yr improper payments across US gov programs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~$16B software market, growing ~13% CAGR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shifting to pre-payment, AI-first prevention — where we already are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5486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F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wedge. Lead here.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payment integrity market, in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5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$95.5B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improper payments, 2025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govt health programs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5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29000" y="15087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~$16B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3774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Payment-integrity software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size,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5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217920" y="15087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774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— market grows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$31–46B by 2031–34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0684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5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006840" y="15087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6.26%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774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claims error 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payer feels</a:t>
            </a:r>
            <a:endParaRPr lang="en-US" sz="12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40080" y="3566160"/>
          <a:ext cx="58521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6766560" y="3566160"/>
            <a:ext cx="4800600" cy="2834640"/>
          </a:xfrm>
          <a:prstGeom prst="roundRect">
            <a:avLst>
              <a:gd name="adj" fmla="val 2581"/>
            </a:avLst>
          </a:prstGeom>
          <a:solidFill>
            <a:srgbClr val="1E4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040880" y="3749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4160520"/>
            <a:ext cx="4297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9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market case for leadership: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payers lose ~$95B a year to improper payments; the software market to stop it is ~$16B and growing ~13% a year; and the industry is moving toward the pre-payment, AI-driven approach we’ve already built.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competition — and where we can win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6766560" cy="29260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Incumbent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weakness = your opening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Cotiviti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200+ payers, all top-25 US plans, ~$10B saved/yr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Enterprise-only, slow, expensive, legacy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&gt;$8B saved/yr, broadest portfolio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cite support &amp; service gaps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Gainwell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~$11B saved/recovered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Government-focused, heavy 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Zelis / Claritev / SAS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platforms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 for fast, mid-market, AI-native onboarding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635240" y="13258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E7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86384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focused product wins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19659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payers, TPAs, self-insured employers the giants barely serve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a worklist vs. months of enterprise implementation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AI-native, explainable findings — reason + confidence on every flag</a:t>
            </a:r>
            <a:endParaRPr lang="en-US" sz="1300" dirty="0"/>
          </a:p>
        </p:txBody>
      </p:sp>
      <p:sp>
        <p:nvSpPr>
          <p:cNvPr id="3" name="Shape 4"/>
          <p:cNvSpPr/>
          <p:nvPr/>
        </p:nvSpPr>
        <p:spPr>
          <a:xfrm>
            <a:off x="640080" y="4572000"/>
            <a:ext cx="10927080" cy="1828800"/>
          </a:xfrm>
          <a:prstGeom prst="roundRect">
            <a:avLst>
              <a:gd name="adj" fmla="val 3000"/>
            </a:avLst>
          </a:prstGeom>
          <a:solidFill>
            <a:srgbClr val="FB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14400" y="47091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Uncomfortable truths to say out loud first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Reference-data gap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440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NCCI / fee schedule / DRG still phase-2 — today we catch anomalies, not policy violations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/ BAA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5440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payer sends real claims until a BAA + security baseline is real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Solo-build scope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5440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can’t carry sales + support + audits + roadmap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barrier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5440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customer is hardest — won with a proof, not a price list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GTM readiness — where we really 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27080" cy="50292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 / demo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4630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2E7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846320" y="1463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3716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engine + realistic data + live flow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0927080" cy="50292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9476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039112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2E7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46320" y="203911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9476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runbook, ~$25–45/mo warm, ~$0 idle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523744"/>
            <a:ext cx="10927080" cy="50292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68680" y="25237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prospect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615184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846320" y="261518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5237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context — not yet a signed design partner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099816"/>
            <a:ext cx="10927080" cy="50292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309981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(NCCI/DRG)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3191256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46320" y="319125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09981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Phase-2; needed for policy-grade findings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675888"/>
            <a:ext cx="10927080" cy="50292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68680" y="36758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/ BAA / security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3767328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846320" y="37673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67588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any real PHI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251960"/>
            <a:ext cx="10927080" cy="50292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68680" y="4251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packaging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434340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846320" y="43434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42519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defined model yet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4828032"/>
            <a:ext cx="10927080" cy="50292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68680" y="48280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sales motion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46320" y="4919472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846320" y="49194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48280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pipeline, no reference logo yet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5404104"/>
            <a:ext cx="10927080" cy="50292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868680" y="54041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(SOC2 / HITRUST)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46320" y="5495544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4846320" y="549554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309360" y="540410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stakes for payer procurement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172200"/>
            <a:ext cx="10927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F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Encouraging, not discouraging: the READY rows are the hard-to-build ones. The GAPs are commercial + compliance work a funded, staffed quarter closes.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234440"/>
            <a:ext cx="10378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InsightHub from a horizontal AI-analytics platform to a </a:t>
            </a:r>
            <a:r>
              <a:rPr lang="en-US" sz="1700" b="1" dirty="0">
                <a:solidFill>
                  <a:srgbClr val="9F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Integrity product that runs on a strong analytics platform.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Lead with the vertical; use the platform as the moat underneath.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2E7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260604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one thing: payment integrity for mid-market payers, TPAs &amp; self-insured employers.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2E7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the domains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84048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pharmacy / retail / SaaS / accounting breadth. Keep the platform generic underneath.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5212080"/>
            <a:ext cx="457200" cy="457200"/>
          </a:xfrm>
          <a:prstGeom prst="ellipse">
            <a:avLst/>
          </a:prstGeom>
          <a:solidFill>
            <a:srgbClr val="2E7D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5120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one design partner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507492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payer running a 90-day proof on real (BAA-covered) claims beats any feature work.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90-day proof — what approval buys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63040" y="2514600"/>
            <a:ext cx="9235440" cy="0"/>
          </a:xfrm>
          <a:prstGeom prst="line">
            <a:avLst/>
          </a:prstGeom>
          <a:noFill/>
          <a:ln w="25400">
            <a:solidFill>
              <a:srgbClr val="CBD6D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783080" y="2286000"/>
            <a:ext cx="457200" cy="457200"/>
          </a:xfrm>
          <a:prstGeom prst="ellipse">
            <a:avLst/>
          </a:prstGeom>
          <a:solidFill>
            <a:srgbClr val="2E7D6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EF3F7"/>
          </a:solidFill>
          <a:ln/>
          <a:effectLst>
            <a:outerShdw blurRad="50800" dist="25400" dir="54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8862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1 design partner (BAA)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800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prospect commits to a proof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2286000"/>
            <a:ext cx="457200" cy="457200"/>
          </a:xfrm>
          <a:prstGeom prst="ellipse">
            <a:avLst/>
          </a:prstGeom>
          <a:solidFill>
            <a:srgbClr val="3E6E8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3108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EF3F7"/>
          </a:solidFill>
          <a:ln/>
          <a:effectLst>
            <a:outerShdw blurRad="50800" dist="25400" dir="54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11880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6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8862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core reference data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4800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NCCI + fee schedule → policy-grade findings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60920" y="2286000"/>
            <a:ext cx="457200" cy="457200"/>
          </a:xfrm>
          <a:prstGeom prst="ellipse">
            <a:avLst/>
          </a:prstGeom>
          <a:solidFill>
            <a:srgbClr val="C9A24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3108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EF3F7"/>
          </a:solidFill>
          <a:ln/>
          <a:effectLst>
            <a:outerShdw blurRad="50800" dist="25400" dir="54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0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60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8862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real claims sample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800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$ found vs. baseline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149840" y="2286000"/>
            <a:ext cx="457200" cy="457200"/>
          </a:xfrm>
          <a:prstGeom prst="ellipse">
            <a:avLst/>
          </a:prstGeom>
          <a:solidFill>
            <a:srgbClr val="1F5A5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89720" y="310896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EF3F7"/>
          </a:solidFill>
          <a:ln/>
          <a:effectLst>
            <a:outerShdw blurRad="50800" dist="25400" dir="54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189720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5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90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38862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savings readout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4800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“$X recoverable per $1M claims” — the number that sells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35040"/>
            <a:ext cx="10927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F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kill / scale gate at day 90: real recoverable $ → scale; no signal → stop cleanly.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explicit ask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7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" y="1783080"/>
            <a:ext cx="548640" cy="548640"/>
          </a:xfrm>
          <a:prstGeom prst="ellipse">
            <a:avLst/>
          </a:prstGeom>
          <a:solidFill>
            <a:srgbClr val="1F5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83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time-boxed mandate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146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PI wedge — one design partner, 90 days.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7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1783080"/>
            <a:ext cx="548640" cy="548640"/>
          </a:xfrm>
          <a:prstGeom prst="ellipse">
            <a:avLst/>
          </a:prstGeom>
          <a:solidFill>
            <a:srgbClr val="1F5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836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783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+ security budget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5146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Reference-data licensing (NCCI / fee schedule / DRG) and a BAA / security baseline.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7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0120" y="4023360"/>
            <a:ext cx="548640" cy="548640"/>
          </a:xfrm>
          <a:prstGeom prst="ellipse">
            <a:avLst/>
          </a:prstGeom>
          <a:solidFill>
            <a:srgbClr val="1F5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601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0233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pair of hands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7548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 or compliance partner — so it isn’t a single-point-of-failure build.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7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0" y="4023360"/>
            <a:ext cx="548640" cy="548640"/>
          </a:xfrm>
          <a:prstGeom prst="ellipse">
            <a:avLst/>
          </a:prstGeom>
          <a:solidFill>
            <a:srgbClr val="1F5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5836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40233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kill / scale gate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47548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day 90: real recoverable $ → scale; if not → stop. Leadership loves a bet with a built-in stop.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5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202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9FD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product?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— yes. The positioning — change it from horizontal to vertical.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9FD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need?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3154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AI-BI: not really. Payment integrity: yes, unambiguously — a ~$95B problem, a ~$16B growing market.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89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9FD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Approval?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4389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 with “working PI MVP + a named payer + a 90-day kill-gated proof” — the shape of bet leadership says yes to.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have the hardest part built.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1255</Words>
  <Application>Microsoft Office PowerPoint</Application>
  <PresentationFormat>Widescreen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Varatharajan Subramanian</cp:lastModifiedBy>
  <cp:revision>1</cp:revision>
  <dcterms:created xsi:type="dcterms:W3CDTF">2026-08-26T07:55:35Z</dcterms:created>
  <dcterms:modified xsi:type="dcterms:W3CDTF">2026-08-26T08:04:42Z</dcterms:modified>
</cp:coreProperties>
</file>