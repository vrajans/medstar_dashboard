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InsightHub turns one-off AI analysis into a durable, governed, proactive analytics system for SMBs who cannot hire a data team. Lead with the outcome, not the tech.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the pain: SMBs have the data but not the team. Existing options are either build-it-yourself or one-time. This is the wedge.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category. We are not a cheaper Power BI or a wrapper on ChatGPT — we occupy the missing middle: automated pipeline + durable, governed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demo spine. Walk the six steps. Emphasize that 1-4 are invisible and automatic — the magic is that the customer never sees the plumbing.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CRITICAL slide for sales. If a prospect says 'why not just use ChatGPT?', this is the answer. Never argue AI quality — argue persistence, governance, proactivity, domain-tuning.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 checklist — but keep tying each to an outcome. Most of these already exist in the product today, which is a strong proof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Domain adaptivity is a real, demonstrable differentiator and already built for 5 domains. It lets one product serve many verticals without rebuild.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to handle 'how are you different from X'. Our unique columns are domain auto-tuning and zero-setup pipeline for the no-data-team SMB.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repeatable demo. The emotional beats: no setup (surprise), 90 seconds (speed), it remembers (vs ChatGPT), it watches (proactivity). Always end with a forward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Qualify hard on 'no data team' and 'data in exports'. Those two signals predict fast value and low churn. Lead use case is the monthly review — universal.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over-commit on price numbers yet. Sell value and the Growth tier. Freemium/trial is the activation engine for SMB self-serve.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PLG motion: activation-first, vertical wedges to prove domain value, expand on usage, then enterprise-enable via trust. Sales team supports, doesn't gate, early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Rehearse these until automatic. The ChatGPT objection is the most common — the answer is always persistence+governance+proactivity, never 'our AI is smarter'.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Always close with a concrete next step: a demo with THEIR file. The activation metric to watch in pilots is time-to-first-insight.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5544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InsightHub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658368" y="2697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Data &amp; Analytics — for businesses with no data team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58368" y="34290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upload to governed, AI-driven insight in under a minute — and it stays current, watches itself, and speaks your industry.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" y="4480560"/>
            <a:ext cx="3429000" cy="1051560"/>
          </a:xfrm>
          <a:prstGeom prst="roundRect">
            <a:avLst>
              <a:gd name="adj" fmla="val 7826"/>
            </a:avLst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459028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1-click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95528" y="50749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→ transform → model → insight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61688" y="4480560"/>
            <a:ext cx="3429000" cy="1051560"/>
          </a:xfrm>
          <a:prstGeom prst="roundRect">
            <a:avLst>
              <a:gd name="adj" fmla="val 7826"/>
            </a:avLst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98848" y="459028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&lt;60s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498848" y="50749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first insight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65008" y="4480560"/>
            <a:ext cx="3429000" cy="1051560"/>
          </a:xfrm>
          <a:prstGeom prst="roundRect">
            <a:avLst>
              <a:gd name="adj" fmla="val 7826"/>
            </a:avLst>
          </a:prstGeom>
          <a:solidFill>
            <a:srgbClr val="0F172A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02168" y="459028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202168" y="50749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alerts, no one asking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58368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Presales &amp; Go-To-Market Playbook  ·  v1.0  · 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SMBs are data-rich but insight-poor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3931920"/>
          </a:xfrm>
          <a:prstGeom prst="roundRect">
            <a:avLst>
              <a:gd name="adj" fmla="val 233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F172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11680"/>
            <a:ext cx="640080" cy="64008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40" dirty="0"/>
          </a:p>
        </p:txBody>
      </p:sp>
      <p:sp>
        <p:nvSpPr>
          <p:cNvPr id="7" name="Text 5"/>
          <p:cNvSpPr/>
          <p:nvPr/>
        </p:nvSpPr>
        <p:spPr>
          <a:xfrm>
            <a:off x="1600200" y="208483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team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29718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that give real analytics (Power BI, Tableau) need a developer to connect sources, build ETL, model data, and design dashboards. SMBs don't have that person.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43400" y="1737360"/>
            <a:ext cx="3520440" cy="3931920"/>
          </a:xfrm>
          <a:prstGeom prst="roundRect">
            <a:avLst>
              <a:gd name="adj" fmla="val 233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F172A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9432" y="2011680"/>
            <a:ext cx="640080" cy="6400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40" dirty="0"/>
          </a:p>
        </p:txBody>
      </p:sp>
      <p:sp>
        <p:nvSpPr>
          <p:cNvPr id="12" name="Text 10"/>
          <p:cNvSpPr/>
          <p:nvPr/>
        </p:nvSpPr>
        <p:spPr>
          <a:xfrm>
            <a:off x="5394960" y="208483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 sprawl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17720" y="2880360"/>
            <a:ext cx="29718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live in a dozen exports — POS, e-commerce, accounting. Nobody has a single, current view, and reconciling them by hand eats hours every week.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38160" y="1737360"/>
            <a:ext cx="3520440" cy="3931920"/>
          </a:xfrm>
          <a:prstGeom prst="roundRect">
            <a:avLst>
              <a:gd name="adj" fmla="val 233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F172A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94192" y="201168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8394192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40" dirty="0"/>
          </a:p>
        </p:txBody>
      </p:sp>
      <p:sp>
        <p:nvSpPr>
          <p:cNvPr id="17" name="Text 15"/>
          <p:cNvSpPr/>
          <p:nvPr/>
        </p:nvSpPr>
        <p:spPr>
          <a:xfrm>
            <a:off x="9189720" y="208483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AI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12480" y="2880360"/>
            <a:ext cx="29718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Pasting a file into ChatGPT gives a brilliant answer once — then it's gone. Next week you re-export, re-upload, re-explain your business from scratch. Nothing persists.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decisions made on gut feel, stale numbers, or a report that's already a week old.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InsightHub · Presales &amp; GTM ·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leaves a gap in the middle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4114800"/>
          </a:xfrm>
          <a:prstGeom prst="roundRect">
            <a:avLst>
              <a:gd name="adj" fmla="val 233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F172A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9659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/ Tableau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04672" y="248716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BUILD-IT-YOURSELF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04672" y="2971800"/>
            <a:ext cx="30175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Powerful, but a project. You supply the developer, the ETL, the model, the dashboards. Days to weeks before value.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43400" y="1737360"/>
            <a:ext cx="3520440" cy="4114800"/>
          </a:xfrm>
          <a:prstGeom prst="roundRect">
            <a:avLst>
              <a:gd name="adj" fmla="val 2338"/>
            </a:avLst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F172A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99432" y="19659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/ Claude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599432" y="248716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&amp; UNGOVERNED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99432" y="2971800"/>
            <a:ext cx="30175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Fantastic first answer — but ephemeral, single-user, no persistence, no governance, no proactivity. Resets every session.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38160" y="1737360"/>
            <a:ext cx="3520440" cy="4114800"/>
          </a:xfrm>
          <a:prstGeom prst="roundRect">
            <a:avLst>
              <a:gd name="adj" fmla="val 2338"/>
            </a:avLst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5400000">
              <a:srgbClr val="0F172A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38160" y="1737360"/>
            <a:ext cx="3520440" cy="4114800"/>
          </a:xfrm>
          <a:prstGeom prst="roundRect">
            <a:avLst>
              <a:gd name="adj" fmla="val 2338"/>
            </a:avLst>
          </a:prstGeom>
          <a:ln w="3175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94192" y="19659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InsightHub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394192" y="248716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MISSING MIDDLE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94192" y="2971800"/>
            <a:ext cx="30175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analytics engineering pipeline as a one-click product — plus persistence, governance, and proactive alerts. Value in minutes, durable forever.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InsightHub does everything Power BI's developer does — automatically — and everything ChatGPT can't: remember, govern, and warn.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InsightHub · Presales &amp; GTM ·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INSIGHTHUB 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The whole pipeline. One click.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2286000"/>
            <a:ext cx="1691640" cy="1737360"/>
          </a:xfrm>
          <a:prstGeom prst="roundRect">
            <a:avLst>
              <a:gd name="adj" fmla="val 4865"/>
            </a:avLst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" y="2487168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1069848" y="24871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548640" y="3127248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49300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or connect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130552" y="27889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441448" y="2286000"/>
            <a:ext cx="1691640" cy="1737360"/>
          </a:xfrm>
          <a:prstGeom prst="roundRect">
            <a:avLst>
              <a:gd name="adj" fmla="val 4865"/>
            </a:avLst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08376" y="2487168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3008376" y="24871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2487168" y="3127248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487168" y="349300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domain match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069080" y="27889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379976" y="2286000"/>
            <a:ext cx="1691640" cy="1737360"/>
          </a:xfrm>
          <a:prstGeom prst="roundRect">
            <a:avLst>
              <a:gd name="adj" fmla="val 4865"/>
            </a:avLst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46904" y="2487168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4946904" y="24871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4425696" y="3127248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425696" y="349300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Domain-aware ETL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007608" y="27889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318504" y="2286000"/>
            <a:ext cx="1691640" cy="1737360"/>
          </a:xfrm>
          <a:prstGeom prst="roundRect">
            <a:avLst>
              <a:gd name="adj" fmla="val 4865"/>
            </a:avLst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85432" y="2487168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6885432" y="24871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6364224" y="3127248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64224" y="349300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Star-schema warehouse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946136" y="27889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8257032" y="2286000"/>
            <a:ext cx="1691640" cy="1737360"/>
          </a:xfrm>
          <a:prstGeom prst="roundRect">
            <a:avLst>
              <a:gd name="adj" fmla="val 4865"/>
            </a:avLst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23960" y="2487168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8823960" y="24871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20" dirty="0"/>
          </a:p>
        </p:txBody>
      </p:sp>
      <p:sp>
        <p:nvSpPr>
          <p:cNvPr id="31" name="Text 29"/>
          <p:cNvSpPr/>
          <p:nvPr/>
        </p:nvSpPr>
        <p:spPr>
          <a:xfrm>
            <a:off x="8302752" y="3127248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302752" y="349300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KPIs + AI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884664" y="27889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10195560" y="2286000"/>
            <a:ext cx="1691640" cy="1737360"/>
          </a:xfrm>
          <a:prstGeom prst="roundRect">
            <a:avLst>
              <a:gd name="adj" fmla="val 4865"/>
            </a:avLst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762488" y="2487168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6" name="Text 34"/>
          <p:cNvSpPr/>
          <p:nvPr/>
        </p:nvSpPr>
        <p:spPr>
          <a:xfrm>
            <a:off x="10762488" y="24871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20" dirty="0"/>
          </a:p>
        </p:txBody>
      </p:sp>
      <p:sp>
        <p:nvSpPr>
          <p:cNvPr id="37" name="Text 35"/>
          <p:cNvSpPr/>
          <p:nvPr/>
        </p:nvSpPr>
        <p:spPr>
          <a:xfrm>
            <a:off x="10241280" y="3127248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0241280" y="349300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+ mobile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02920" y="4480560"/>
            <a:ext cx="11155680" cy="1554480"/>
          </a:xfrm>
          <a:prstGeom prst="roundRect">
            <a:avLst>
              <a:gd name="adj" fmla="val 5294"/>
            </a:avLst>
          </a:prstGeom>
          <a:solidFill>
            <a:srgbClr val="0F172A"/>
          </a:solidFill>
          <a:ln/>
        </p:spPr>
      </p:sp>
      <p:sp>
        <p:nvSpPr>
          <p:cNvPr id="40" name="Text 38"/>
          <p:cNvSpPr/>
          <p:nvPr/>
        </p:nvSpPr>
        <p:spPr>
          <a:xfrm>
            <a:off x="777240" y="466344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/ Tableau: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developer does steps 1–4 before anyone sees a chart.   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ChatGPT: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step 5 once, then forgets.   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InsightHub: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all six, automatically, and keeps doing them.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InsightHub · Presales &amp; GTM ·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DIFFERENTIATOR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a moat, not a feature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AI will keep getting better at one-time analysis. We don't compete there — we compete on the system around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394960" cy="1737360"/>
          </a:xfrm>
          <a:prstGeom prst="roundRect">
            <a:avLst>
              <a:gd name="adj" fmla="val 473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F172A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057400"/>
            <a:ext cx="128016" cy="1737360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22199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2715768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load accumulates in the warehouse. This month sits beside last month automatically. A chat window starts from zero every time.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2057400"/>
            <a:ext cx="5394960" cy="1737360"/>
          </a:xfrm>
          <a:prstGeom prst="roundRect">
            <a:avLst>
              <a:gd name="adj" fmla="val 473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F172A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2057400"/>
            <a:ext cx="128016" cy="1737360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22199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537960" y="2715768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RBAC, row/column restriction by role, audit, lineage, GDPR/CCPA. A chat thread is one person with no controls.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5394960" cy="1737360"/>
          </a:xfrm>
          <a:prstGeom prst="roundRect">
            <a:avLst>
              <a:gd name="adj" fmla="val 473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F172A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977640"/>
            <a:ext cx="128016" cy="1737360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14223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Proactivity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68680" y="4636008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+ anomaly alerts fire on their own to email/SMS/WhatsApp/Slack. Nobody has to remember to ask the right question.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3977640"/>
            <a:ext cx="5394960" cy="1737360"/>
          </a:xfrm>
          <a:prstGeom prst="roundRect">
            <a:avLst>
              <a:gd name="adj" fmla="val 473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F172A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3977640"/>
            <a:ext cx="128016" cy="1737360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414223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Domain-tuning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537960" y="4636008"/>
            <a:ext cx="4892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Pharmacy, SaaS, retail, accounting — the first answer is already tuned to the business, not a blank slate you re-teach each time.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line: "The operational layer that turns one-off AI brilliance into a recurring, governed habit."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InsightHub · Presales &amp; GTM ·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 the box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F172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11096"/>
            <a:ext cx="566928" cy="5669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110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64" dirty="0"/>
          </a:p>
        </p:txBody>
      </p:sp>
      <p:sp>
        <p:nvSpPr>
          <p:cNvPr id="7" name="Text 5"/>
          <p:cNvSpPr/>
          <p:nvPr/>
        </p:nvSpPr>
        <p:spPr>
          <a:xfrm>
            <a:off x="749808" y="25603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ingest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49808" y="292608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Excel/CSV upload, scheduled connectors, ERP file-drop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69164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F172A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1880" y="1911096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19110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64" dirty="0"/>
          </a:p>
        </p:txBody>
      </p:sp>
      <p:sp>
        <p:nvSpPr>
          <p:cNvPr id="12" name="Text 10"/>
          <p:cNvSpPr/>
          <p:nvPr/>
        </p:nvSpPr>
        <p:spPr>
          <a:xfrm>
            <a:off x="3584448" y="25603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detection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584448" y="292608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Auto-recognizes the business type from your columns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69164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F172A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46520" y="1911096"/>
            <a:ext cx="566928" cy="56692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19110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64" dirty="0"/>
          </a:p>
        </p:txBody>
      </p:sp>
      <p:sp>
        <p:nvSpPr>
          <p:cNvPr id="17" name="Text 15"/>
          <p:cNvSpPr/>
          <p:nvPr/>
        </p:nvSpPr>
        <p:spPr>
          <a:xfrm>
            <a:off x="6419088" y="25603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ETL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19088" y="292608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Cleans, transforms &amp; models on every load — no setup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52560" y="169164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F172A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81160" y="1911096"/>
            <a:ext cx="566928" cy="56692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9281160" y="19110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64" dirty="0"/>
          </a:p>
        </p:txBody>
      </p:sp>
      <p:sp>
        <p:nvSpPr>
          <p:cNvPr id="22" name="Text 20"/>
          <p:cNvSpPr/>
          <p:nvPr/>
        </p:nvSpPr>
        <p:spPr>
          <a:xfrm>
            <a:off x="9253728" y="25603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analytics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253728" y="292608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trends, cash flow, cohorts in your industry's language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84048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F172A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4059936"/>
            <a:ext cx="566928" cy="5669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0599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64" dirty="0"/>
          </a:p>
        </p:txBody>
      </p:sp>
      <p:sp>
        <p:nvSpPr>
          <p:cNvPr id="27" name="Text 25"/>
          <p:cNvSpPr/>
          <p:nvPr/>
        </p:nvSpPr>
        <p:spPr>
          <a:xfrm>
            <a:off x="749808" y="47091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49808" y="50749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narrative + ask-anything Q&amp;A, grounded in your data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83280" y="384048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F172A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11880" y="4059936"/>
            <a:ext cx="566928" cy="56692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3611880" y="40599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64" dirty="0"/>
          </a:p>
        </p:txBody>
      </p:sp>
      <p:sp>
        <p:nvSpPr>
          <p:cNvPr id="32" name="Text 30"/>
          <p:cNvSpPr/>
          <p:nvPr/>
        </p:nvSpPr>
        <p:spPr>
          <a:xfrm>
            <a:off x="3584448" y="47091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alerts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3584448" y="50749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+ anomaly to email, SMS, WhatsApp, Slack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17920" y="384048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F172A">
                <a:alpha val="1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46520" y="4059936"/>
            <a:ext cx="566928" cy="56692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6" name="Text 34"/>
          <p:cNvSpPr/>
          <p:nvPr/>
        </p:nvSpPr>
        <p:spPr>
          <a:xfrm>
            <a:off x="6446520" y="40599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64" dirty="0"/>
          </a:p>
        </p:txBody>
      </p:sp>
      <p:sp>
        <p:nvSpPr>
          <p:cNvPr id="37" name="Text 35"/>
          <p:cNvSpPr/>
          <p:nvPr/>
        </p:nvSpPr>
        <p:spPr>
          <a:xfrm>
            <a:off x="6419088" y="47091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hoc playground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6419088" y="50749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dataset that fits no domain still gets full analysis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052560" y="3840480"/>
            <a:ext cx="26060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F172A">
                <a:alpha val="1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281160" y="4059936"/>
            <a:ext cx="566928" cy="566928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41" name="Text 39"/>
          <p:cNvSpPr/>
          <p:nvPr/>
        </p:nvSpPr>
        <p:spPr>
          <a:xfrm>
            <a:off x="9281160" y="40599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64" dirty="0"/>
          </a:p>
        </p:txBody>
      </p:sp>
      <p:sp>
        <p:nvSpPr>
          <p:cNvPr id="42" name="Text 40"/>
          <p:cNvSpPr/>
          <p:nvPr/>
        </p:nvSpPr>
        <p:spPr>
          <a:xfrm>
            <a:off x="9253728" y="47091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RBAC</a:t>
            </a:r>
            <a:endParaRPr lang="en-US" sz="1450" dirty="0"/>
          </a:p>
        </p:txBody>
      </p:sp>
      <p:sp>
        <p:nvSpPr>
          <p:cNvPr id="43" name="Text 41"/>
          <p:cNvSpPr/>
          <p:nvPr/>
        </p:nvSpPr>
        <p:spPr>
          <a:xfrm>
            <a:off x="9253728" y="50749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isolation, role-based access, audit, GDPR/CCPA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InsightHub · Presales &amp; GTM ·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DOMAIN-ADAPTIVE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platform, fluent in every business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084832" cy="2286000"/>
          </a:xfrm>
          <a:prstGeom prst="roundRect">
            <a:avLst>
              <a:gd name="adj" fmla="val 3947"/>
            </a:avLst>
          </a:prstGeom>
          <a:solidFill>
            <a:srgbClr val="0F172A"/>
          </a:solidFill>
          <a:ln w="12700">
            <a:solidFill>
              <a:srgbClr val="1E7E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2395728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914400" y="3108960"/>
            <a:ext cx="1371600" cy="0"/>
          </a:xfrm>
          <a:prstGeom prst="line">
            <a:avLst/>
          </a:prstGeom>
          <a:noFill/>
          <a:ln w="19050">
            <a:solidFill>
              <a:srgbClr val="1E7E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32461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margin, expiry, GST/tax, stock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816352" y="2194560"/>
            <a:ext cx="2084832" cy="2286000"/>
          </a:xfrm>
          <a:prstGeom prst="roundRect">
            <a:avLst>
              <a:gd name="adj" fmla="val 3947"/>
            </a:avLst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2395728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3182112" y="3108960"/>
            <a:ext cx="13716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44368" y="32461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MRR, ARR, churn, customers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84064" y="2194560"/>
            <a:ext cx="2084832" cy="2286000"/>
          </a:xfrm>
          <a:prstGeom prst="roundRect">
            <a:avLst>
              <a:gd name="adj" fmla="val 3947"/>
            </a:avLst>
          </a:prstGeom>
          <a:solidFill>
            <a:srgbClr val="0F172A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93792" y="2395728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/ E-comm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449824" y="3108960"/>
            <a:ext cx="1371600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0" y="32461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Orders, AOV, inventory, returns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51776" y="2194560"/>
            <a:ext cx="2084832" cy="2286000"/>
          </a:xfrm>
          <a:prstGeom prst="roundRect">
            <a:avLst>
              <a:gd name="adj" fmla="val 3947"/>
            </a:avLst>
          </a:prstGeom>
          <a:solidFill>
            <a:srgbClr val="0F172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61504" y="2395728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7717536" y="3108960"/>
            <a:ext cx="137160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79792" y="32461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P&amp;L, cash flow, expenses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619488" y="2194560"/>
            <a:ext cx="2084832" cy="2286000"/>
          </a:xfrm>
          <a:prstGeom prst="roundRect">
            <a:avLst>
              <a:gd name="adj" fmla="val 3947"/>
            </a:avLst>
          </a:prstGeom>
          <a:solidFill>
            <a:srgbClr val="0F172A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29216" y="2395728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/ Ad hoc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9985248" y="3108960"/>
            <a:ext cx="1371600" cy="0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47504" y="32461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cost, margin, any table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892040"/>
            <a:ext cx="11109960" cy="1051560"/>
          </a:xfrm>
          <a:prstGeom prst="roundRect">
            <a:avLst>
              <a:gd name="adj" fmla="val 7826"/>
            </a:avLst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502920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Auto-detection today, expandable tomorrow. 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many customers upload the same new shape, we codify it as a first-class domain — the ad hoc playground is also our domain-discovery funnel.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InsightHub · Presales &amp; GTM ·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win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74320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600200"/>
            <a:ext cx="2596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91840" y="1600200"/>
            <a:ext cx="214884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64992" y="1600200"/>
            <a:ext cx="2002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/ Tableau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40680" y="1600200"/>
            <a:ext cx="214884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13832" y="1600200"/>
            <a:ext cx="2002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 / Supaboard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589520" y="1600200"/>
            <a:ext cx="214884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62672" y="1600200"/>
            <a:ext cx="2002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/ Julius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738360" y="1600200"/>
            <a:ext cx="2084832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11512" y="1600200"/>
            <a:ext cx="193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InsightHub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057400"/>
            <a:ext cx="274320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2057400"/>
            <a:ext cx="2596896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Zero-setup pipeline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91840" y="2057400"/>
            <a:ext cx="214884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64992" y="2057400"/>
            <a:ext cx="2002536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40680" y="2057400"/>
            <a:ext cx="214884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2057400"/>
            <a:ext cx="2002536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589520" y="2057400"/>
            <a:ext cx="214884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62672" y="2057400"/>
            <a:ext cx="2002536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738360" y="2057400"/>
            <a:ext cx="2084832" cy="534924"/>
          </a:xfrm>
          <a:prstGeom prst="rect">
            <a:avLst/>
          </a:prstGeom>
          <a:solidFill>
            <a:srgbClr val="E6FB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11512" y="2057400"/>
            <a:ext cx="1938528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2592324"/>
            <a:ext cx="2743200" cy="53492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" y="2592324"/>
            <a:ext cx="2596896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history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291840" y="2592324"/>
            <a:ext cx="2148840" cy="53492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64992" y="2592324"/>
            <a:ext cx="2002536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Yes*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40680" y="2592324"/>
            <a:ext cx="2148840" cy="53492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2592324"/>
            <a:ext cx="2002536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589520" y="2592324"/>
            <a:ext cx="2148840" cy="53492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62672" y="2592324"/>
            <a:ext cx="2002536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738360" y="2592324"/>
            <a:ext cx="2084832" cy="534924"/>
          </a:xfrm>
          <a:prstGeom prst="rect">
            <a:avLst/>
          </a:prstGeom>
          <a:solidFill>
            <a:srgbClr val="CCFBF1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11512" y="2592324"/>
            <a:ext cx="1938528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3127248"/>
            <a:ext cx="274320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" y="3127248"/>
            <a:ext cx="2596896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auto-tuning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291840" y="3127248"/>
            <a:ext cx="214884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64992" y="3127248"/>
            <a:ext cx="2002536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40680" y="3127248"/>
            <a:ext cx="214884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3127248"/>
            <a:ext cx="2002536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589520" y="3127248"/>
            <a:ext cx="214884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62672" y="3127248"/>
            <a:ext cx="2002536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738360" y="3127248"/>
            <a:ext cx="2084832" cy="534924"/>
          </a:xfrm>
          <a:prstGeom prst="rect">
            <a:avLst/>
          </a:prstGeom>
          <a:solidFill>
            <a:srgbClr val="E6FB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811512" y="3127248"/>
            <a:ext cx="1938528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8640" y="3662172"/>
            <a:ext cx="2743200" cy="53492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" y="3662172"/>
            <a:ext cx="2596896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alerts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3291840" y="3662172"/>
            <a:ext cx="2148840" cy="53492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64992" y="3662172"/>
            <a:ext cx="2002536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440680" y="3662172"/>
            <a:ext cx="2148840" cy="53492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3662172"/>
            <a:ext cx="2002536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589520" y="3662172"/>
            <a:ext cx="2148840" cy="53492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62672" y="3662172"/>
            <a:ext cx="2002536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9738360" y="3662172"/>
            <a:ext cx="2084832" cy="534924"/>
          </a:xfrm>
          <a:prstGeom prst="rect">
            <a:avLst/>
          </a:prstGeom>
          <a:solidFill>
            <a:srgbClr val="CCFBF1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811512" y="3662172"/>
            <a:ext cx="1938528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48640" y="4197096"/>
            <a:ext cx="274320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1792" y="4197096"/>
            <a:ext cx="2596896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/ RBAC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3291840" y="4197096"/>
            <a:ext cx="214884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364992" y="4197096"/>
            <a:ext cx="2002536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5440680" y="4197096"/>
            <a:ext cx="214884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513832" y="4197096"/>
            <a:ext cx="2002536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7589520" y="4197096"/>
            <a:ext cx="214884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662672" y="4197096"/>
            <a:ext cx="2002536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9738360" y="4197096"/>
            <a:ext cx="2084832" cy="534924"/>
          </a:xfrm>
          <a:prstGeom prst="rect">
            <a:avLst/>
          </a:prstGeom>
          <a:solidFill>
            <a:srgbClr val="E6FB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811512" y="4197096"/>
            <a:ext cx="1938528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548640" y="4732020"/>
            <a:ext cx="2743200" cy="53492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21792" y="4732020"/>
            <a:ext cx="2596896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no-data-team SMB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3291840" y="4732020"/>
            <a:ext cx="2148840" cy="53492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364992" y="4732020"/>
            <a:ext cx="2002536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5440680" y="4732020"/>
            <a:ext cx="2148840" cy="53492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513832" y="4732020"/>
            <a:ext cx="2002536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7589520" y="4732020"/>
            <a:ext cx="2148840" cy="53492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662672" y="4732020"/>
            <a:ext cx="2002536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9738360" y="4732020"/>
            <a:ext cx="2084832" cy="534924"/>
          </a:xfrm>
          <a:prstGeom prst="rect">
            <a:avLst/>
          </a:prstGeom>
          <a:solidFill>
            <a:srgbClr val="CCFBF1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811512" y="4732020"/>
            <a:ext cx="1938528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548640" y="5266944"/>
            <a:ext cx="274320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21792" y="5266944"/>
            <a:ext cx="2596896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first insight</a:t>
            </a:r>
            <a:endParaRPr lang="en-US" sz="1150" dirty="0"/>
          </a:p>
        </p:txBody>
      </p:sp>
      <p:sp>
        <p:nvSpPr>
          <p:cNvPr id="76" name="Shape 74"/>
          <p:cNvSpPr/>
          <p:nvPr/>
        </p:nvSpPr>
        <p:spPr>
          <a:xfrm>
            <a:off x="3291840" y="5266944"/>
            <a:ext cx="214884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364992" y="5266944"/>
            <a:ext cx="2002536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5440680" y="5266944"/>
            <a:ext cx="214884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513832" y="5266944"/>
            <a:ext cx="2002536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7589520" y="5266944"/>
            <a:ext cx="214884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662672" y="5266944"/>
            <a:ext cx="2002536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Minutes*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9738360" y="5266944"/>
            <a:ext cx="2084832" cy="534924"/>
          </a:xfrm>
          <a:prstGeom prst="rect">
            <a:avLst/>
          </a:prstGeom>
          <a:solidFill>
            <a:srgbClr val="E6FB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811512" y="5266944"/>
            <a:ext cx="1938528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Only if a developer builds it (Power BI) or within a single session (ChatGPT/Julius).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InsightHub · Presales &amp; GTM ·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PRESALES 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8-minute demo script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914400" cy="54864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45920" y="16459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scene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0" y="16459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run a business, not a data team. Watch this." Have a messy Excel/CSV ready (their industry if possible).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304288"/>
            <a:ext cx="914400" cy="54864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0428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645920" y="230428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0" y="2304288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the file in. Point out: no mapping, no setup, no ETL config. It just starts.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962656"/>
            <a:ext cx="914400" cy="548640"/>
          </a:xfrm>
          <a:prstGeom prst="roundRect">
            <a:avLst>
              <a:gd name="adj" fmla="val 10000"/>
            </a:avLst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962656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45920" y="2962656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0" y="2962656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it recognizing the domain and confirming the model. "It already knows this is a retail file."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621024"/>
            <a:ext cx="914400" cy="548640"/>
          </a:xfrm>
          <a:prstGeom prst="roundRect">
            <a:avLst>
              <a:gd name="adj" fmla="val 10000"/>
            </a:avLst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621024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3:30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45920" y="362102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analytics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0" y="3621024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on the dashboard — domain KPIs, trends, cash flow, in their currency. "That took 90 seconds."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279392"/>
            <a:ext cx="914400" cy="548640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27939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5:00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645920" y="427939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AI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114800" y="4279392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plain-language question. Show grounded, tenant-scoped answer. Contrast: "and this remembers, unlike ChatGPT."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937760"/>
            <a:ext cx="914400" cy="548640"/>
          </a:xfrm>
          <a:prstGeom prst="roundRect">
            <a:avLst>
              <a:gd name="adj" fmla="val 10000"/>
            </a:avLst>
          </a:prstGeom>
          <a:solidFill>
            <a:srgbClr val="DC2626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9377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6:30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645920" y="49377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alert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114800" y="493776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an anomaly flag / alert config. "It watches your numbers so you don't have to."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596128"/>
            <a:ext cx="914400" cy="54864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559612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7:30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645920" y="559612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114800" y="5596128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"Upload today, insight today, and it stays current forever. What would you point it at first?"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InsightHub · Presales &amp; GTM ·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TO SELL 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customer &amp; use cases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4206240"/>
          </a:xfrm>
          <a:prstGeom prst="roundRect">
            <a:avLst>
              <a:gd name="adj" fmla="val 195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F172A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745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Customer Profile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SMB, roughly 5–200 employees, no dedicated data/BI team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Owner/operator or ops/finance lead makes the decisions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lives in exports: POS, e-commerce, accounting, ERP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tried spreadsheets or a one-off ChatGPT analysis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Verticals with clear metrics: pharmacy, retail, SaaS, services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speed and simplicity over configurability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394960" cy="4206240"/>
          </a:xfrm>
          <a:prstGeom prst="roundRect">
            <a:avLst>
              <a:gd name="adj" fmla="val 1957"/>
            </a:avLst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5400000">
              <a:srgbClr val="0F172A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8745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use cases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0" y="242316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happened last month?" — instant monthly review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&amp; cost leakage detection across products/branches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Cash-flow visibility for owners without an accountant on staff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watch — get pinged when sales or costs move abnormally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Multi-branch / multi-store comparison in one view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 mobile snapshot for leaders who never open a dashboard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InsightHub · Presales &amp; GTM ·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(INITIAL)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value-based tiers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framework — to be refined with real usage data. Priced on outcomes and limits (users, data volume, connectors), not seats alone.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20440" cy="384048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F172A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21284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67004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single owner-operator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41248" y="3657600"/>
            <a:ext cx="30632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domain / workspace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upload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analytics + AI narrative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alerts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users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2011680"/>
            <a:ext cx="3520440" cy="3840480"/>
          </a:xfrm>
          <a:prstGeom prst="roundRect">
            <a:avLst>
              <a:gd name="adj" fmla="val 2338"/>
            </a:avLst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5400000">
              <a:srgbClr val="0F172A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43400" y="2011680"/>
            <a:ext cx="3520440" cy="3840480"/>
          </a:xfrm>
          <a:prstGeom prst="roundRect">
            <a:avLst>
              <a:gd name="adj" fmla="val 2338"/>
            </a:avLst>
          </a:prstGeom>
          <a:ln w="3175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4960" y="1828800"/>
            <a:ext cx="1417320" cy="384048"/>
          </a:xfrm>
          <a:prstGeom prst="roundRect">
            <a:avLst>
              <a:gd name="adj" fmla="val 23810"/>
            </a:avLst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5394960" y="182880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221284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617720" y="267004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growing SMB team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617720" y="29718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$$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636008" y="3657600"/>
            <a:ext cx="30632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Multi-domain + ad hoc playground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connectors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AI Q&amp;A + anomaly alerts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/ SMS / Slack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~10 users, RBAC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38160" y="2011680"/>
            <a:ext cx="3520440" cy="3840480"/>
          </a:xfrm>
          <a:prstGeom prst="roundRect">
            <a:avLst>
              <a:gd name="adj" fmla="val 233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F172A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412480" y="221284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/ Enterprise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412480" y="267004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multi-branch &amp; regulated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412480" y="29718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$$$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8430768" y="3657600"/>
            <a:ext cx="30632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Growth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 paid LLM + data residency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SSO, advanced RBAC, audit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/ HIPAA posture</a:t>
            </a:r>
            <a:endParaRPr lang="en-US" sz="120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 + SLA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trial / freemium entry recommended to drive self-serve activation before sales touch.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InsightHub · Presales &amp; GTM ·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reach and convert SMBs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06040" cy="3383280"/>
          </a:xfrm>
          <a:prstGeom prst="roundRect">
            <a:avLst>
              <a:gd name="adj" fmla="val 3158"/>
            </a:avLst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2286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Land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49808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Product-led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9808" y="320040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trial / freemium. Self-serve upload → first insight in minutes is the activation moment. Instrument it heavily.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64992" y="2103120"/>
            <a:ext cx="2606040" cy="3383280"/>
          </a:xfrm>
          <a:prstGeom prst="roundRect">
            <a:avLst>
              <a:gd name="adj" fmla="val 3158"/>
            </a:avLst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2286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Prove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66160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wedges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566160" y="320040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1–2 verticals (e.g., pharmacy, retail) where domain-tuning shines. Templated demos + case studies per vertical.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81344" y="2103120"/>
            <a:ext cx="2606040" cy="3383280"/>
          </a:xfrm>
          <a:prstGeom prst="roundRect">
            <a:avLst>
              <a:gd name="adj" fmla="val 3158"/>
            </a:avLst>
          </a:prstGeom>
          <a:solidFill>
            <a:srgbClr val="0F172A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2512" y="2286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Expand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82512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→ paid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82512" y="320040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 usage; nudge to paid at plan limits. Land on one workspace, expand to more domains / users / connectors.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97696" y="2103120"/>
            <a:ext cx="2606040" cy="3383280"/>
          </a:xfrm>
          <a:prstGeom prst="roundRect">
            <a:avLst>
              <a:gd name="adj" fmla="val 3158"/>
            </a:avLst>
          </a:prstGeom>
          <a:solidFill>
            <a:srgbClr val="0F172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98864" y="2286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Trust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98864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Enterprise-enable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198864" y="320040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+ RBAC + BYO-LLM unlock larger, multi-branch and regulated buyers as references accumulate.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57150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Channels: content + SEO on 'X analytics without a data team', vertical communities, POS/accounting marketplace listings, partner referrals.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InsightHub · Presales &amp; GTM ·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 HANDLING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to the questions you'll get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1298448"/>
          </a:xfrm>
          <a:prstGeom prst="roundRect">
            <a:avLst>
              <a:gd name="adj" fmla="val 633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F172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45920"/>
            <a:ext cx="118872" cy="1298448"/>
          </a:xfrm>
          <a:prstGeom prst="roundRect">
            <a:avLst>
              <a:gd name="adj" fmla="val 15385"/>
            </a:avLst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75564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not just use ChatGPT / Claude?"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" y="2103120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2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a one-time look. But it forgets every session, has no governance, and won't alert you. InsightHub remembers, governs access, and watches your numbers 24/7.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394960" cy="1298448"/>
          </a:xfrm>
          <a:prstGeom prst="roundRect">
            <a:avLst>
              <a:gd name="adj" fmla="val 633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F172A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645920"/>
            <a:ext cx="118872" cy="1298448"/>
          </a:xfrm>
          <a:prstGeom prst="roundRect">
            <a:avLst>
              <a:gd name="adj" fmla="val 15385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6510528" y="175564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already have Power BI / an accountant."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10528" y="2103120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2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— this doesn't replace them, it removes the setup. No developer to model data, no waiting for month-end. Insight the moment data lands.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5394960" cy="1298448"/>
          </a:xfrm>
          <a:prstGeom prst="roundRect">
            <a:avLst>
              <a:gd name="adj" fmla="val 633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F172A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108960"/>
            <a:ext cx="118872" cy="1298448"/>
          </a:xfrm>
          <a:prstGeom prst="roundRect">
            <a:avLst>
              <a:gd name="adj" fmla="val 15385"/>
            </a:avLst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321868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my data secure / who can see it?"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1248" y="3566160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2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isolation, role-based access down to the row, encryption, audit logs, GDPR/CCPA today, SOC 2 on the roadmap. Your data never trains a shared model.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6217920" y="3108960"/>
            <a:ext cx="5394960" cy="1298448"/>
          </a:xfrm>
          <a:prstGeom prst="roundRect">
            <a:avLst>
              <a:gd name="adj" fmla="val 633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F172A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3108960"/>
            <a:ext cx="118872" cy="1298448"/>
          </a:xfrm>
          <a:prstGeom prst="roundRect">
            <a:avLst>
              <a:gd name="adj" fmla="val 15385"/>
            </a:avLst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6510528" y="321868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if my data doesn't fit your templates?"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10528" y="3566160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2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 hoc playground analyzes any dataset you name — you still get trends, comparisons, and AI Q&amp;A even with no matching domain.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548640" y="4572000"/>
            <a:ext cx="5394960" cy="1298448"/>
          </a:xfrm>
          <a:prstGeom prst="roundRect">
            <a:avLst>
              <a:gd name="adj" fmla="val 633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F172A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4572000"/>
            <a:ext cx="118872" cy="1298448"/>
          </a:xfrm>
          <a:prstGeom prst="roundRect">
            <a:avLst>
              <a:gd name="adj" fmla="val 15385"/>
            </a:avLst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468172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accurate is the AI?"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1248" y="5029200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2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are grounded in your warehouse only, scoped to your tenant, with a shared metric layer so numbers never disagree. You can also bring your own premium LLM.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6217920" y="4572000"/>
            <a:ext cx="5394960" cy="1298448"/>
          </a:xfrm>
          <a:prstGeom prst="roundRect">
            <a:avLst>
              <a:gd name="adj" fmla="val 633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F172A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4572000"/>
            <a:ext cx="118872" cy="1298448"/>
          </a:xfrm>
          <a:prstGeom prst="roundRect">
            <a:avLst>
              <a:gd name="adj" fmla="val 15385"/>
            </a:avLst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6510528" y="468172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does it cost to switch?"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10528" y="5029200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2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set up — upload a file and see value in minutes. No migration project, no professional services.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InsightHub · Presales &amp; GTM ·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858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spreadsheets to a governed, AI-driven habit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22860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the whole analytics pipeline in one click — and unlike a chat window, it persists, it's governed, and it watches your numbers for you.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" y="3200400"/>
            <a:ext cx="3429000" cy="2011680"/>
          </a:xfrm>
          <a:prstGeom prst="roundRect">
            <a:avLst>
              <a:gd name="adj" fmla="val 4091"/>
            </a:avLst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33832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prospects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8368" y="658368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86968" y="3886200"/>
            <a:ext cx="30632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15-min demo with their own file. First insight live, in the room.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61688" y="3200400"/>
            <a:ext cx="3429000" cy="2011680"/>
          </a:xfrm>
          <a:prstGeom prst="roundRect">
            <a:avLst>
              <a:gd name="adj" fmla="val 4091"/>
            </a:avLst>
          </a:prstGeom>
          <a:solidFill>
            <a:srgbClr val="0F172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0288" y="33832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team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61688" y="4361688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90288" y="3886200"/>
            <a:ext cx="30632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8-min script + objection cards. Qualify on 'no data team' + 'data in exports'.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65008" y="3200400"/>
            <a:ext cx="3429000" cy="2011680"/>
          </a:xfrm>
          <a:prstGeom prst="roundRect">
            <a:avLst>
              <a:gd name="adj" fmla="val 4091"/>
            </a:avLst>
          </a:prstGeom>
          <a:solidFill>
            <a:srgbClr val="0F172A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93608" y="33832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pilots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065008" y="8065008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93608" y="3886200"/>
            <a:ext cx="30632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trial, one workspace, one vertical. Measure time-to-first-insight &amp; activation.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" y="5577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InsightHub — analytics for businesses with no data team.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55161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InsightHub · Presales &amp; GTM · 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InsightHub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InsightHub</dc:creator>
  <cp:lastModifiedBy>InsightHub</cp:lastModifiedBy>
  <cp:revision>1</cp:revision>
  <dcterms:created xsi:type="dcterms:W3CDTF">2026-07-24T21:17:01Z</dcterms:created>
  <dcterms:modified xsi:type="dcterms:W3CDTF">2026-07-24T21:17:01Z</dcterms:modified>
</cp:coreProperties>
</file>